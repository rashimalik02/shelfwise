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embeddedFontLst>
    <p:embeddedFont>
      <p:font typeface="JetBrains Mono" panose="02000009000000000000" pitchFamily="49" charset="0"/>
      <p:regular r:id="rId26"/>
      <p:bold r:id="rId27"/>
    </p:embeddedFont>
    <p:embeddedFont>
      <p:font typeface="Space Grotesk" pitchFamily="34" charset="0"/>
      <p:regular r:id="rId28"/>
      <p:bold r:id="rId2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26" Type="http://schemas.openxmlformats.org/officeDocument/2006/relationships/font" Target="fonts/font1.fntdata"/><Relationship Id="rId27" Type="http://schemas.openxmlformats.org/officeDocument/2006/relationships/font" Target="fonts/font2.fntdata"/><Relationship Id="rId28" Type="http://schemas.openxmlformats.org/officeDocument/2006/relationships/font" Target="fonts/font3.fntdata"/><Relationship Id="rId29"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Rashi. This is Shelfwise, my DevOps capstone. The app itself is deliberately small: an inventory manager for a stockroom. The real subject is the path it takes from my laptop to a monitored Kubernetes cluster: tests, containers, a CI/CD pipeline with a security gate, infrastructure as code on AWS, Helm, autoscaling, GitOps and observability.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Shelfwise tracks products with SKU, bin location, supplier and price. The stock-health bar and reorder queue show what has dropped below its reorder point, and every stock movement — received, sold, returned, written off, counted — lands in a ledger. If you try to pick more units than exist, the API returns 409 and the dialog refuses. Frontend is React 19 with Vite, backend is FastAPI with SQLAlchemy and Postgres, schema managed by Alembic. Swagger docs live at /docs.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whole stack on one slide. The top row is the application and its tests. The middle row is how it gets packaged and shipped: multi-stage non-root Docker images, a GitHub Actions pipeline with a Trivy security gate pushing to GHCR, Terraform for the AWS VPC and EKS cluster, and a Helm chart. The bottom row is how it runs: Argo CD for GitOps, Prometheus and Grafana for monitoring, a restricted Pod Security namespace, and four troubleshooting labs.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path. Every push and pull request runs the pipeline: lint and tests for the backend and frontend, helm lint and terraform validate and test. Only if all of that passes do we build the Docker images, and Trivy scans them before anything is pushed. Images go to GHCR tagged with the full commit SHA. Then deploy happens one of two ways: helm upgrade on EKS, or — the GitOps path — CI commits the new SHA into the release values file and Argo CD rolls it out. Prometheus scrapes the backend every 15 seconds and Grafana visualises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backend has 29 pytest tests covering all eleven endpoints plus the migration chain. conftest.py points the app at in-memory SQLite before it’s even imported, so tests can never touch a real database. ruff checks lint and formatting, and the frontend has node:test unit tests. In CI, backend-tests is the first job and every later job depends on it — so a failing test stops the pipeline before any image is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docker compose up --build starts Postgres, the backend and the frontend. The backend runs migrations on start and loads fourteen demo products. The frontend Dockerfile is multi-stage: a Node build stage, then an unprivileged nginx runtime. Both images run as non-root: the backend as uid 10001 and nginx as uid 101 — you can see that in the id output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is one GitHub Actions workflow. Here’s a green run: backend tests, frontend build, infra lint, then the image matrix builds backend and frontend in parallel, scans them, and pushes to GitHub Container Registry. Images are tagged with the full commit SHA, never latest — so any running pod traces back to an exact commit, and a rollback is just the previous SHA. Pull requests build and scan, but never push.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Trivy scans each built image before it’s pushed — OS packages and every Python and npm package — and fails on any HIGH or CRITICAL finding that already has a fix. The first scan of the backend failed with four HIGH findings. They weren’t in my dependencies: they were copies of urllib3, msgpack and setuptools that pip vendors inside itself. The API never needs pip at runtime, so I removed it from the image, and both images now scan clean.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detail I’m proud of: every third-party action in the workflow is pinned to a full commit SHA rather than a tag. Tags can be moved — in March 2026 attackers force-pushed almost every trivy-action tag to a commit that stole CI secrets. The version I pinned was released after that incident. The same idea as tagging my own images by SHA: you always know exactly what code is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Infrastructure is Terraform: a VPC with two public and two private subnets, and an EKS cluster with a managed node group. The plan created 57 resources in ap-southeast-2. It runs offline in CI too: terraform test with a mocked AWS provider, no credentials. I had to adapt to a Free-plan AWS account — locked to one region, Free Tier instance types only, and no permission to create an OIDC provider, so I used EKS Pod Identity instead of IRSA. After capturing the evidence I ran terraform destroy: 56 resources removed, total cost under a dollar.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evidence from the AWS console while the stack was up: the EKS cluster active in ap-southeast-2, its managed node group under Compute, and the VPC Terraform created. I also captured the CLI view — two public and two private subnets, and kubectl showing the nodes Ready — and the destroy log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Deployment is a single Helm chart with values files for local kind, EKS and GitOps. A Traefik Ingress sends / to the frontend and /api and /docs to the backend. Two replicas of each, PodDisruptionBudgets, and Postgres as a StatefulSet with a PVC — its password is generated by the chart on first install and reused on upgrade. The backend has separate /health and /ready probes: liveness restarts a stuck process, readiness just takes the pod out of the Service, which is what you want during a database outage.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prove autoscaling I ran a three-minute load test against the API while watching the HorizontalPodAutoscaler. CPU went from 4% to 449% of the request, and the HPA stepped the backend from 2 replicas up to its maximum of 6. When the load stopped it scaled back down. metrics-server feeds the HPA; the same climb shows up on the Grafana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backend exposes /metrics in Prometheus format: request rate and latency, plus business metrics — stock movements by reason, units on hand, and products by stock status. A ServiceMonitor tells kube-prometheus-stack to scrape every backend pod every 15 seconds; here all six are up during the load test. The custom Grafana dashboard shows requests per second, p95 latency, status codes, stock movements and the HPA replica count side by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end-to-end demo. I push a change; the pipeline goes green; the promote job commits the new image SHA into values-release.yaml. Argo CD in the local cluster watches the chart, sees the commit and syncs — no kubectl from me. Pods roll over to the new tag, and when I reload the app the build pill in the header shows the same SHA as GHCR and the Actions run. That’s the full loop: commit, pipeline,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runs through every layer. Both images run as non-root. In Kubernetes every container also has a read-only root filesystem, privilege escalation disabled and all Linux capabilities dropped, and the namespace enforces the restricted Pod Security Standard — so a pod that doesn’t meet it is rejected outright. No credentials are committed: the database password is generated on first install and reused on upgrades, and tfvars and .env files are git-ignored. Plus the Trivy gate and SHA-pinned actions we already saw.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also wrote four break-and-fix labs, each a common real-world failure. A bad image tag gives ImagePullBackOff. A Service whose selector doesn’t match the pod labels has no endpoints — that’s the one on screen: the endpoint slice is empty until you patch the selector. A wrong database password leaves the pod Running but never Ready, because the readiness probe checks Postgres. And a pod that asks for privilege escalation is rejected by Pod Security Admission.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decisions worth explaining. Images are tagged by commit SHA so every pod traces back to a commit and a rollback is just the previous SHA. Separate health and readiness endpoints mean a database outage takes pods out of rotation instead of restart-looping them. Postgres runs in the cluster for the demo; in production on AWS I’d use RDS, and the chart already supports an external database URL. And I chose Traefik because ingress-nginx was archived in March 2026 — the Ingress object is the same, only the class name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a small app with a complete delivery path — 29 tests, a security gate that’s clean, real infrastructure on AWS built with Terraform and destroyed for under a dollar, Kubernetes with autoscaling from 2 to 6 pods, GitOps with Argo CD, and Prometheus and Grafana watching it all. The code and every screenshot are in the repo. Thank you —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lide-background-1-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Slide-background-2-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2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82" y="1127665"/>
            <a:ext cx="10566436" cy="447026"/>
          </a:xfrm>
          <a:prstGeom prst="rect">
            <a:avLst/>
          </a:prstGeom>
          <a:noFill/>
          <a:ln/>
        </p:spPr>
        <p:txBody>
          <a:bodyPr wrap="square" lIns="0" tIns="0" rIns="0" bIns="0" rtlCol="0" anchor="t"/>
          <a:lstStyle>
            <a:lvl1pPr algn="l" indent="0" marL="0">
              <a:lnSpc>
                <a:spcPct val="115000"/>
              </a:lnSpc>
              <a:buNone/>
              <a:defRPr lang="en-US" sz="3200" dirty="0">
                <a:solidFill>
                  <a:srgbClr val="17202F"/>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782" y="1879490"/>
            <a:ext cx="10566418" cy="4165710"/>
          </a:xfrm>
          <a:prstGeom prst="rect">
            <a:avLst/>
          </a:prstGeom>
          <a:noFill/>
          <a:ln/>
        </p:spPr>
        <p:txBody>
          <a:bodyPr wrap="square" lIns="0" tIns="0" rIns="0" bIns="0" rtlCol="0" anchor="t"/>
          <a:lstStyle>
            <a:lvl1pPr algn="l" indent="0" marL="0">
              <a:lnSpc>
                <a:spcPct val="140000"/>
              </a:lnSpc>
              <a:buNone/>
              <a:defRPr lang="en-US" sz="1600" dirty="0">
                <a:solidFill>
                  <a:srgbClr val="17202F"/>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background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782" y="1127665"/>
            <a:ext cx="10566436" cy="447026"/>
          </a:xfrm>
          <a:prstGeom prst="rect">
            <a:avLst/>
          </a:prstGeom>
          <a:noFill/>
          <a:ln/>
        </p:spPr>
        <p:txBody>
          <a:bodyPr wrap="square" lIns="0" tIns="0" rIns="0" bIns="0" rtlCol="0" anchor="t"/>
          <a:lstStyle>
            <a:lvl1pPr algn="l" indent="0" marL="0">
              <a:lnSpc>
                <a:spcPct val="115000"/>
              </a:lnSpc>
              <a:buNone/>
              <a:defRPr lang="en-US" sz="3200" dirty="0">
                <a:solidFill>
                  <a:srgbClr val="F7F5EF"/>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782" y="1879490"/>
            <a:ext cx="10566418" cy="4165710"/>
          </a:xfrm>
          <a:prstGeom prst="rect">
            <a:avLst/>
          </a:prstGeom>
          <a:noFill/>
          <a:ln/>
        </p:spPr>
        <p:txBody>
          <a:bodyPr wrap="square" lIns="0" tIns="0" rIns="0" bIns="0" rtlCol="0" anchor="t"/>
          <a:lstStyle>
            <a:lvl1pPr algn="l" indent="0" marL="0">
              <a:lnSpc>
                <a:spcPct val="140000"/>
              </a:lnSpc>
              <a:buNone/>
              <a:defRPr lang="en-US" sz="1600" dirty="0">
                <a:solidFill>
                  <a:srgbClr val="F7F5EF"/>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background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782" y="1127665"/>
            <a:ext cx="10566436" cy="447026"/>
          </a:xfrm>
          <a:prstGeom prst="rect">
            <a:avLst/>
          </a:prstGeom>
          <a:noFill/>
          <a:ln/>
        </p:spPr>
        <p:txBody>
          <a:bodyPr wrap="square" lIns="0" tIns="0" rIns="0" bIns="0" rtlCol="0" anchor="t"/>
          <a:lstStyle>
            <a:lvl1pPr algn="l" indent="0" marL="0">
              <a:lnSpc>
                <a:spcPct val="115000"/>
              </a:lnSpc>
              <a:buNone/>
              <a:defRPr lang="en-US" sz="3200" dirty="0">
                <a:solidFill>
                  <a:srgbClr val="F7F5EF"/>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782" y="1879490"/>
            <a:ext cx="10566418" cy="4165710"/>
          </a:xfrm>
          <a:prstGeom prst="rect">
            <a:avLst/>
          </a:prstGeom>
          <a:noFill/>
          <a:ln/>
        </p:spPr>
        <p:txBody>
          <a:bodyPr wrap="square" lIns="0" tIns="0" rIns="0" bIns="0" rtlCol="0" anchor="t"/>
          <a:lstStyle>
            <a:lvl1pPr algn="l" indent="0" marL="0">
              <a:lnSpc>
                <a:spcPct val="140000"/>
              </a:lnSpc>
              <a:buNone/>
              <a:defRPr lang="en-US" sz="1600" dirty="0">
                <a:solidFill>
                  <a:srgbClr val="F7F5EF"/>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2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82" y="1127665"/>
            <a:ext cx="10566436" cy="447026"/>
          </a:xfrm>
          <a:prstGeom prst="rect">
            <a:avLst/>
          </a:prstGeom>
          <a:noFill/>
          <a:ln/>
        </p:spPr>
        <p:txBody>
          <a:bodyPr wrap="square" lIns="0" tIns="0" rIns="0" bIns="0" rtlCol="0" anchor="t"/>
          <a:lstStyle>
            <a:lvl1pPr algn="l" indent="0" marL="0">
              <a:lnSpc>
                <a:spcPct val="115000"/>
              </a:lnSpc>
              <a:buNone/>
              <a:defRPr lang="en-US" sz="3200" dirty="0">
                <a:solidFill>
                  <a:srgbClr val="17202F"/>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782" y="1879490"/>
            <a:ext cx="10566418" cy="4165710"/>
          </a:xfrm>
          <a:prstGeom prst="rect">
            <a:avLst/>
          </a:prstGeom>
          <a:noFill/>
          <a:ln/>
        </p:spPr>
        <p:txBody>
          <a:bodyPr wrap="square" lIns="0" tIns="0" rIns="0" bIns="0" rtlCol="0" anchor="t"/>
          <a:lstStyle>
            <a:lvl1pPr algn="l" indent="0" marL="0">
              <a:lnSpc>
                <a:spcPct val="140000"/>
              </a:lnSpc>
              <a:buNone/>
              <a:defRPr lang="en-US" sz="1600" dirty="0">
                <a:solidFill>
                  <a:srgbClr val="17202F"/>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2.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hyperlink" Target="https://github.com/RashiMalik02/shelfwise" TargetMode="External"/><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812782" y="1552097"/>
            <a:ext cx="497078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F0B04F"/>
                </a:solidFill>
                <a:latin typeface="JetBrains Mono" pitchFamily="49" charset="0"/>
                <a:ea typeface="JetBrains Mono" pitchFamily="49" charset="-122"/>
                <a:cs typeface="JetBrains Mono" pitchFamily="49" charset="-120"/>
              </a:rPr>
              <a:t>DEVOPS CAPSTONE · 2026</a:t>
            </a:r>
            <a:endParaRPr lang="en-US" sz="1200" dirty="0"/>
          </a:p>
        </p:txBody>
      </p:sp>
      <p:sp>
        <p:nvSpPr>
          <p:cNvPr id="3" name="Text 1"/>
          <p:cNvSpPr/>
          <p:nvPr>
            <p:ph type="title"/>
          </p:nvPr>
        </p:nvSpPr>
        <p:spPr>
          <a:xfrm>
            <a:off x="812782" y="1968590"/>
            <a:ext cx="4970780" cy="1041400"/>
          </a:xfrm>
          <a:prstGeom prst="rect">
            <a:avLst/>
          </a:prstGeom>
          <a:noFill/>
          <a:ln/>
        </p:spPr>
        <p:txBody>
          <a:bodyPr wrap="square" lIns="0" tIns="0" rIns="0" bIns="0" rtlCol="0" anchor="t">
            <a:normAutofit/>
          </a:bodyPr>
          <a:lstStyle/>
          <a:p>
            <a:pPr algn="l" indent="0" marL="0">
              <a:lnSpc>
                <a:spcPts val="8000"/>
              </a:lnSpc>
              <a:buNone/>
            </a:pPr>
            <a:r>
              <a:rPr lang="en-US" sz="8000" b="1" i="0" spc="-200" kern="0" dirty="0">
                <a:solidFill>
                  <a:srgbClr val="F7F5EF"/>
                </a:solidFill>
                <a:latin typeface="Space Grotesk" pitchFamily="34" charset="0"/>
                <a:ea typeface="Space Grotesk" pitchFamily="34" charset="-122"/>
                <a:cs typeface="Space Grotesk" pitchFamily="34" charset="-120"/>
              </a:rPr>
              <a:t>Shelfwise</a:t>
            </a:r>
            <a:endParaRPr lang="en-US" sz="8000" dirty="0"/>
          </a:p>
        </p:txBody>
      </p:sp>
      <p:sp>
        <p:nvSpPr>
          <p:cNvPr id="4" name="Text 2"/>
          <p:cNvSpPr/>
          <p:nvPr/>
        </p:nvSpPr>
        <p:spPr>
          <a:xfrm>
            <a:off x="812782" y="3187763"/>
            <a:ext cx="4970780" cy="723810"/>
          </a:xfrm>
          <a:prstGeom prst="rect">
            <a:avLst/>
          </a:prstGeom>
          <a:noFill/>
          <a:ln/>
        </p:spPr>
        <p:txBody>
          <a:bodyPr wrap="square" lIns="0" tIns="0" rIns="0" bIns="0" rtlCol="0" anchor="t">
            <a:normAutofit/>
          </a:bodyPr>
          <a:lstStyle/>
          <a:p>
            <a:pPr algn="l" indent="0" marL="0">
              <a:lnSpc>
                <a:spcPts val="2750"/>
              </a:lnSpc>
              <a:buNone/>
            </a:pPr>
            <a:r>
              <a:rPr lang="en-US" sz="2200" dirty="0">
                <a:solidFill>
                  <a:srgbClr val="EDEBE4"/>
                </a:solidFill>
                <a:latin typeface="IBM Plex Sans" pitchFamily="34" charset="0"/>
                <a:ea typeface="IBM Plex Sans" pitchFamily="34" charset="-122"/>
                <a:cs typeface="IBM Plex Sans" pitchFamily="34" charset="-120"/>
              </a:rPr>
              <a:t>From a laptop to a monitored Kubernetes cluster</a:t>
            </a:r>
            <a:endParaRPr lang="en-US" sz="2200" dirty="0"/>
          </a:p>
        </p:txBody>
      </p:sp>
      <p:sp>
        <p:nvSpPr>
          <p:cNvPr id="5" name="Text 3"/>
          <p:cNvSpPr/>
          <p:nvPr/>
        </p:nvSpPr>
        <p:spPr>
          <a:xfrm>
            <a:off x="812782" y="4089346"/>
            <a:ext cx="4970780" cy="825419"/>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A9B4C6"/>
                </a:solidFill>
                <a:latin typeface="IBM Plex Sans" pitchFamily="34" charset="0"/>
                <a:ea typeface="IBM Plex Sans" pitchFamily="34" charset="-122"/>
                <a:cs typeface="IBM Plex Sans" pitchFamily="34" charset="-120"/>
              </a:rPr>
              <a:t>A small inventory app, and the whole delivery path around it: tests, containers, CI/CD with a security gate, Terraform, Helm, GitOps and observability.</a:t>
            </a:r>
            <a:endParaRPr lang="en-US" sz="1400" dirty="0"/>
          </a:p>
        </p:txBody>
      </p:sp>
      <p:sp>
        <p:nvSpPr>
          <p:cNvPr id="6" name="Text 4"/>
          <p:cNvSpPr/>
          <p:nvPr/>
        </p:nvSpPr>
        <p:spPr>
          <a:xfrm>
            <a:off x="812782" y="5092538"/>
            <a:ext cx="49707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C6"/>
                </a:solidFill>
                <a:latin typeface="JetBrains Mono" pitchFamily="49" charset="0"/>
                <a:ea typeface="JetBrains Mono" pitchFamily="49" charset="-122"/>
                <a:cs typeface="JetBrains Mono" pitchFamily="49" charset="-120"/>
              </a:rPr>
              <a:t>Rashi Malik · github.com/RashiMalik02/shelfwise</a:t>
            </a:r>
            <a:endParaRPr lang="en-US" sz="1200" dirty="0"/>
          </a:p>
        </p:txBody>
      </p:sp>
      <p:pic>
        <p:nvPicPr>
          <p:cNvPr id="7" name="Image 0" descr="Shelfwise dashboard: stock health bar, inventory table and reorder queue">    </p:cNvPr>
          <p:cNvPicPr>
            <a:picLocks noChangeAspect="1"/>
          </p:cNvPicPr>
          <p:nvPr/>
        </p:nvPicPr>
        <p:blipFill>
          <a:blip r:embed="rId1"/>
          <a:srcRect l="0" r="0" t="72" b="72"/>
          <a:stretch/>
        </p:blipFill>
        <p:spPr>
          <a:xfrm>
            <a:off x="6051523" y="1768475"/>
            <a:ext cx="5321300" cy="3321050"/>
          </a:xfrm>
          <a:prstGeom prst="roundRect">
            <a:avLst>
              <a:gd name="adj" fmla="val 3633"/>
            </a:avLst>
          </a:prstGeom>
          <a:effectLst>
            <a:outerShdw sx="100000" sy="100000" kx="0" ky="0" algn="bl" rotWithShape="0" blurRad="762000" dist="254000" dir="5400000">
              <a:srgbClr val="000000">
                <a:alpha val="55000"/>
              </a:srgbClr>
            </a:outerShdw>
          </a:effectLst>
        </p:spPr>
      </p:pic>
      <p:sp>
        <p:nvSpPr>
          <p:cNvPr id="8" name="Shape 5"/>
          <p:cNvSpPr/>
          <p:nvPr/>
        </p:nvSpPr>
        <p:spPr>
          <a:xfrm>
            <a:off x="6048348" y="1765300"/>
            <a:ext cx="5327650" cy="3327400"/>
          </a:xfrm>
          <a:prstGeom prst="roundRect">
            <a:avLst>
              <a:gd name="adj" fmla="val 3721"/>
            </a:avLst>
          </a:prstGeom>
          <a:noFill/>
          <a:ln w="6350">
            <a:solidFill>
              <a:srgbClr val="2B3A5C"/>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782" y="812781"/>
            <a:ext cx="10883429"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A3560F"/>
                </a:solidFill>
                <a:latin typeface="JetBrains Mono" pitchFamily="49" charset="0"/>
                <a:ea typeface="JetBrains Mono" pitchFamily="49" charset="-122"/>
                <a:cs typeface="JetBrains Mono" pitchFamily="49" charset="-120"/>
              </a:rPr>
              <a:t>M1 · THE APPLICATION</a:t>
            </a:r>
            <a:endParaRPr lang="en-US" sz="1200" dirty="0"/>
          </a:p>
        </p:txBody>
      </p:sp>
      <p:sp>
        <p:nvSpPr>
          <p:cNvPr id="3" name="Text 1"/>
          <p:cNvSpPr/>
          <p:nvPr>
            <p:ph type="title"/>
          </p:nvPr>
        </p:nvSpPr>
        <p:spPr>
          <a:xfrm>
            <a:off x="812782" y="1127666"/>
            <a:ext cx="10883429" cy="472426"/>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7202F"/>
                </a:solidFill>
                <a:latin typeface="Space Grotesk" pitchFamily="34" charset="0"/>
                <a:ea typeface="Space Grotesk" pitchFamily="34" charset="-122"/>
                <a:cs typeface="Space Grotesk" pitchFamily="34" charset="-120"/>
              </a:rPr>
              <a:t>An inventory manager for a small stockroom</a:t>
            </a:r>
            <a:endParaRPr lang="en-US" sz="3200" dirty="0"/>
          </a:p>
        </p:txBody>
      </p:sp>
      <p:pic>
        <p:nvPicPr>
          <p:cNvPr id="4" name="Image 0" descr="Shelfwise dashboard at localhost:3000 with stock health, inventory table, reorder queue and stock movements">    </p:cNvPr>
          <p:cNvPicPr>
            <a:picLocks noChangeAspect="1"/>
          </p:cNvPicPr>
          <p:nvPr/>
        </p:nvPicPr>
        <p:blipFill>
          <a:blip r:embed="rId1"/>
          <a:srcRect l="0" r="0" t="60" b="60"/>
          <a:stretch/>
        </p:blipFill>
        <p:spPr>
          <a:xfrm>
            <a:off x="819132" y="1885824"/>
            <a:ext cx="6337300" cy="3956050"/>
          </a:xfrm>
          <a:prstGeom prst="roundRect">
            <a:avLst>
              <a:gd name="adj" fmla="val 2408"/>
            </a:avLst>
          </a:prstGeom>
          <a:effectLst>
            <a:outerShdw sx="100000" sy="100000" kx="0" ky="0" algn="bl" rotWithShape="0" blurRad="381000" dist="152400" dir="5400000">
              <a:srgbClr val="17202F">
                <a:alpha val="18000"/>
              </a:srgbClr>
            </a:outerShdw>
          </a:effectLst>
        </p:spPr>
      </p:pic>
      <p:sp>
        <p:nvSpPr>
          <p:cNvPr id="5" name="Shape 2"/>
          <p:cNvSpPr/>
          <p:nvPr/>
        </p:nvSpPr>
        <p:spPr>
          <a:xfrm>
            <a:off x="815957" y="1882649"/>
            <a:ext cx="6343650" cy="3962400"/>
          </a:xfrm>
          <a:prstGeom prst="roundRect">
            <a:avLst>
              <a:gd name="adj" fmla="val 2484"/>
            </a:avLst>
          </a:prstGeom>
          <a:noFill/>
          <a:ln w="6350">
            <a:solidFill>
              <a:srgbClr val="D9D4C7"/>
            </a:solidFill>
            <a:prstDash val="solid"/>
          </a:ln>
        </p:spPr>
      </p:sp>
      <p:sp>
        <p:nvSpPr>
          <p:cNvPr id="6" name="Shape 3"/>
          <p:cNvSpPr/>
          <p:nvPr/>
        </p:nvSpPr>
        <p:spPr>
          <a:xfrm>
            <a:off x="7581873" y="1879474"/>
            <a:ext cx="0" cy="756904"/>
          </a:xfrm>
          <a:prstGeom prst="line">
            <a:avLst/>
          </a:prstGeom>
          <a:noFill/>
          <a:ln w="25400">
            <a:solidFill>
              <a:srgbClr val="2F5BD3"/>
            </a:solidFill>
            <a:prstDash val="solid"/>
          </a:ln>
        </p:spPr>
      </p:sp>
      <p:sp>
        <p:nvSpPr>
          <p:cNvPr id="7" name="Text 4"/>
          <p:cNvSpPr/>
          <p:nvPr/>
        </p:nvSpPr>
        <p:spPr>
          <a:xfrm>
            <a:off x="7744654" y="1879474"/>
            <a:ext cx="3743600" cy="2692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02F"/>
                </a:solidFill>
                <a:latin typeface="Space Grotesk" pitchFamily="34" charset="0"/>
                <a:ea typeface="Space Grotesk" pitchFamily="34" charset="-122"/>
                <a:cs typeface="Space Grotesk" pitchFamily="34" charset="-120"/>
              </a:rPr>
              <a:t>Products</a:t>
            </a:r>
            <a:endParaRPr lang="en-US" sz="1600" dirty="0"/>
          </a:p>
        </p:txBody>
      </p:sp>
      <p:sp>
        <p:nvSpPr>
          <p:cNvPr id="8" name="Text 5"/>
          <p:cNvSpPr/>
          <p:nvPr/>
        </p:nvSpPr>
        <p:spPr>
          <a:xfrm>
            <a:off x="7744654" y="2174108"/>
            <a:ext cx="3743600" cy="48766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SKU, bin location, supplier and unit price, with search and filters.</a:t>
            </a:r>
            <a:endParaRPr lang="en-US" sz="1300" dirty="0"/>
          </a:p>
        </p:txBody>
      </p:sp>
      <p:sp>
        <p:nvSpPr>
          <p:cNvPr id="9" name="Shape 6"/>
          <p:cNvSpPr/>
          <p:nvPr/>
        </p:nvSpPr>
        <p:spPr>
          <a:xfrm>
            <a:off x="7581873" y="2890377"/>
            <a:ext cx="0" cy="756904"/>
          </a:xfrm>
          <a:prstGeom prst="line">
            <a:avLst/>
          </a:prstGeom>
          <a:noFill/>
          <a:ln w="25400">
            <a:solidFill>
              <a:srgbClr val="D98A1E"/>
            </a:solidFill>
            <a:prstDash val="solid"/>
          </a:ln>
        </p:spPr>
      </p:sp>
      <p:sp>
        <p:nvSpPr>
          <p:cNvPr id="10" name="Text 7"/>
          <p:cNvSpPr/>
          <p:nvPr/>
        </p:nvSpPr>
        <p:spPr>
          <a:xfrm>
            <a:off x="7744654" y="2890377"/>
            <a:ext cx="3743600" cy="2692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02F"/>
                </a:solidFill>
                <a:latin typeface="Space Grotesk" pitchFamily="34" charset="0"/>
                <a:ea typeface="Space Grotesk" pitchFamily="34" charset="-122"/>
                <a:cs typeface="Space Grotesk" pitchFamily="34" charset="-120"/>
              </a:rPr>
              <a:t>Reorder queue</a:t>
            </a:r>
            <a:endParaRPr lang="en-US" sz="1600" dirty="0"/>
          </a:p>
        </p:txBody>
      </p:sp>
      <p:sp>
        <p:nvSpPr>
          <p:cNvPr id="11" name="Text 8"/>
          <p:cNvSpPr/>
          <p:nvPr/>
        </p:nvSpPr>
        <p:spPr>
          <a:xfrm>
            <a:off x="7744654" y="3185012"/>
            <a:ext cx="3743600" cy="48766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Everything below its reorder point, one click to receive stock.</a:t>
            </a:r>
            <a:endParaRPr lang="en-US" sz="1300" dirty="0"/>
          </a:p>
        </p:txBody>
      </p:sp>
      <p:sp>
        <p:nvSpPr>
          <p:cNvPr id="12" name="Shape 9"/>
          <p:cNvSpPr/>
          <p:nvPr/>
        </p:nvSpPr>
        <p:spPr>
          <a:xfrm>
            <a:off x="7581873" y="3901281"/>
            <a:ext cx="0" cy="756904"/>
          </a:xfrm>
          <a:prstGeom prst="line">
            <a:avLst/>
          </a:prstGeom>
          <a:noFill/>
          <a:ln w="25400">
            <a:solidFill>
              <a:srgbClr val="17202F"/>
            </a:solidFill>
            <a:prstDash val="solid"/>
          </a:ln>
        </p:spPr>
      </p:sp>
      <p:sp>
        <p:nvSpPr>
          <p:cNvPr id="13" name="Text 10"/>
          <p:cNvSpPr/>
          <p:nvPr/>
        </p:nvSpPr>
        <p:spPr>
          <a:xfrm>
            <a:off x="7744654" y="3901281"/>
            <a:ext cx="3743600" cy="2692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02F"/>
                </a:solidFill>
                <a:latin typeface="Space Grotesk" pitchFamily="34" charset="0"/>
                <a:ea typeface="Space Grotesk" pitchFamily="34" charset="-122"/>
                <a:cs typeface="Space Grotesk" pitchFamily="34" charset="-120"/>
              </a:rPr>
              <a:t>Stock ledger</a:t>
            </a:r>
            <a:endParaRPr lang="en-US" sz="1600" dirty="0"/>
          </a:p>
        </p:txBody>
      </p:sp>
      <p:sp>
        <p:nvSpPr>
          <p:cNvPr id="14" name="Text 11"/>
          <p:cNvSpPr/>
          <p:nvPr/>
        </p:nvSpPr>
        <p:spPr>
          <a:xfrm>
            <a:off x="7744654" y="4195915"/>
            <a:ext cx="3743600" cy="48766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Every movement logged. Picking more than exists returns 409.</a:t>
            </a:r>
            <a:endParaRPr lang="en-US" sz="1300" dirty="0"/>
          </a:p>
        </p:txBody>
      </p:sp>
      <p:sp>
        <p:nvSpPr>
          <p:cNvPr id="15" name="Text 12"/>
          <p:cNvSpPr/>
          <p:nvPr/>
        </p:nvSpPr>
        <p:spPr>
          <a:xfrm>
            <a:off x="7569173" y="4912185"/>
            <a:ext cx="3924346" cy="482528"/>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5F6673"/>
                </a:solidFill>
                <a:latin typeface="JetBrains Mono" pitchFamily="49" charset="0"/>
                <a:ea typeface="JetBrains Mono" pitchFamily="49" charset="-122"/>
                <a:cs typeface="JetBrains Mono" pitchFamily="49" charset="-120"/>
              </a:rPr>
              <a:t>React 19 + Vite · FastAPI · PostgreSQL 17 · 11 REST endpoints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782" y="812781"/>
            <a:ext cx="10883429"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A3560F"/>
                </a:solidFill>
                <a:latin typeface="JetBrains Mono" pitchFamily="49" charset="0"/>
                <a:ea typeface="JetBrains Mono" pitchFamily="49" charset="-122"/>
                <a:cs typeface="JetBrains Mono" pitchFamily="49" charset="-120"/>
              </a:rPr>
              <a:t>WHAT’S IN IT</a:t>
            </a:r>
            <a:endParaRPr lang="en-US" sz="1200" dirty="0"/>
          </a:p>
        </p:txBody>
      </p:sp>
      <p:sp>
        <p:nvSpPr>
          <p:cNvPr id="3" name="Text 1"/>
          <p:cNvSpPr/>
          <p:nvPr>
            <p:ph type="title"/>
          </p:nvPr>
        </p:nvSpPr>
        <p:spPr>
          <a:xfrm>
            <a:off x="812782" y="1127666"/>
            <a:ext cx="10883429" cy="472426"/>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7202F"/>
                </a:solidFill>
                <a:latin typeface="Space Grotesk" pitchFamily="34" charset="0"/>
                <a:ea typeface="Space Grotesk" pitchFamily="34" charset="-122"/>
                <a:cs typeface="Space Grotesk" pitchFamily="34" charset="-120"/>
              </a:rPr>
              <a:t>One small app, the whole delivery path</a:t>
            </a:r>
            <a:endParaRPr lang="en-US" sz="3200" dirty="0"/>
          </a:p>
        </p:txBody>
      </p:sp>
      <p:sp>
        <p:nvSpPr>
          <p:cNvPr id="4" name="Shape 2"/>
          <p:cNvSpPr/>
          <p:nvPr/>
        </p:nvSpPr>
        <p:spPr>
          <a:xfrm>
            <a:off x="815957" y="1882648"/>
            <a:ext cx="2520932" cy="1054118"/>
          </a:xfrm>
          <a:prstGeom prst="roundRect">
            <a:avLst>
              <a:gd name="adj" fmla="val 9337"/>
            </a:avLst>
          </a:prstGeom>
          <a:solidFill>
            <a:srgbClr val="FBFAF6"/>
          </a:solidFill>
          <a:ln w="6350">
            <a:solidFill>
              <a:srgbClr val="DDD8CB"/>
            </a:solidFill>
            <a:prstDash val="solid"/>
          </a:ln>
        </p:spPr>
      </p:sp>
      <p:sp>
        <p:nvSpPr>
          <p:cNvPr id="5" name="Text 3"/>
          <p:cNvSpPr/>
          <p:nvPr/>
        </p:nvSpPr>
        <p:spPr>
          <a:xfrm>
            <a:off x="996337" y="2063028"/>
            <a:ext cx="222497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5BD3"/>
                </a:solidFill>
                <a:latin typeface="JetBrains Mono" pitchFamily="49" charset="0"/>
                <a:ea typeface="JetBrains Mono" pitchFamily="49" charset="-122"/>
                <a:cs typeface="JetBrains Mono" pitchFamily="49" charset="-120"/>
              </a:rPr>
              <a:t>Frontend</a:t>
            </a:r>
            <a:endParaRPr lang="en-US" sz="1200" dirty="0"/>
          </a:p>
        </p:txBody>
      </p:sp>
      <p:sp>
        <p:nvSpPr>
          <p:cNvPr id="6" name="Text 4"/>
          <p:cNvSpPr/>
          <p:nvPr/>
        </p:nvSpPr>
        <p:spPr>
          <a:xfrm>
            <a:off x="996337" y="2327131"/>
            <a:ext cx="2224978" cy="454656"/>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17202F"/>
                </a:solidFill>
                <a:latin typeface="IBM Plex Sans" pitchFamily="34" charset="0"/>
                <a:ea typeface="IBM Plex Sans" pitchFamily="34" charset="-122"/>
                <a:cs typeface="IBM Plex Sans" pitchFamily="34" charset="-120"/>
              </a:rPr>
              <a:t>React 19 + Vite on unprivileged nginx</a:t>
            </a:r>
            <a:endParaRPr lang="en-US" sz="1300" dirty="0"/>
          </a:p>
        </p:txBody>
      </p:sp>
      <p:sp>
        <p:nvSpPr>
          <p:cNvPr id="7" name="Shape 5"/>
          <p:cNvSpPr/>
          <p:nvPr/>
        </p:nvSpPr>
        <p:spPr>
          <a:xfrm>
            <a:off x="3495630" y="1882648"/>
            <a:ext cx="2520977" cy="1054118"/>
          </a:xfrm>
          <a:prstGeom prst="roundRect">
            <a:avLst>
              <a:gd name="adj" fmla="val 9337"/>
            </a:avLst>
          </a:prstGeom>
          <a:solidFill>
            <a:srgbClr val="FBFAF6"/>
          </a:solidFill>
          <a:ln w="6350">
            <a:solidFill>
              <a:srgbClr val="DDD8CB"/>
            </a:solidFill>
            <a:prstDash val="solid"/>
          </a:ln>
        </p:spPr>
      </p:sp>
      <p:sp>
        <p:nvSpPr>
          <p:cNvPr id="8" name="Text 6"/>
          <p:cNvSpPr/>
          <p:nvPr/>
        </p:nvSpPr>
        <p:spPr>
          <a:xfrm>
            <a:off x="3676009" y="2063028"/>
            <a:ext cx="22250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5BD3"/>
                </a:solidFill>
                <a:latin typeface="JetBrains Mono" pitchFamily="49" charset="0"/>
                <a:ea typeface="JetBrains Mono" pitchFamily="49" charset="-122"/>
                <a:cs typeface="JetBrains Mono" pitchFamily="49" charset="-120"/>
              </a:rPr>
              <a:t>Backend</a:t>
            </a:r>
            <a:endParaRPr lang="en-US" sz="1200" dirty="0"/>
          </a:p>
        </p:txBody>
      </p:sp>
      <p:sp>
        <p:nvSpPr>
          <p:cNvPr id="9" name="Text 7"/>
          <p:cNvSpPr/>
          <p:nvPr/>
        </p:nvSpPr>
        <p:spPr>
          <a:xfrm>
            <a:off x="3676009" y="2327131"/>
            <a:ext cx="2225024" cy="454656"/>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17202F"/>
                </a:solidFill>
                <a:latin typeface="IBM Plex Sans" pitchFamily="34" charset="0"/>
                <a:ea typeface="IBM Plex Sans" pitchFamily="34" charset="-122"/>
                <a:cs typeface="IBM Plex Sans" pitchFamily="34" charset="-120"/>
              </a:rPr>
              <a:t>FastAPI, SQLAlchemy 2, Pydantic</a:t>
            </a:r>
            <a:endParaRPr lang="en-US" sz="1300" dirty="0"/>
          </a:p>
        </p:txBody>
      </p:sp>
      <p:sp>
        <p:nvSpPr>
          <p:cNvPr id="10" name="Shape 8"/>
          <p:cNvSpPr/>
          <p:nvPr/>
        </p:nvSpPr>
        <p:spPr>
          <a:xfrm>
            <a:off x="6175348" y="1882648"/>
            <a:ext cx="2520977" cy="1054118"/>
          </a:xfrm>
          <a:prstGeom prst="roundRect">
            <a:avLst>
              <a:gd name="adj" fmla="val 9337"/>
            </a:avLst>
          </a:prstGeom>
          <a:solidFill>
            <a:srgbClr val="FBFAF6"/>
          </a:solidFill>
          <a:ln w="6350">
            <a:solidFill>
              <a:srgbClr val="DDD8CB"/>
            </a:solidFill>
            <a:prstDash val="solid"/>
          </a:ln>
        </p:spPr>
      </p:sp>
      <p:sp>
        <p:nvSpPr>
          <p:cNvPr id="11" name="Text 9"/>
          <p:cNvSpPr/>
          <p:nvPr/>
        </p:nvSpPr>
        <p:spPr>
          <a:xfrm>
            <a:off x="6355728" y="2063028"/>
            <a:ext cx="22250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5BD3"/>
                </a:solidFill>
                <a:latin typeface="JetBrains Mono" pitchFamily="49" charset="0"/>
                <a:ea typeface="JetBrains Mono" pitchFamily="49" charset="-122"/>
                <a:cs typeface="JetBrains Mono" pitchFamily="49" charset="-120"/>
              </a:rPr>
              <a:t>Database</a:t>
            </a:r>
            <a:endParaRPr lang="en-US" sz="1200" dirty="0"/>
          </a:p>
        </p:txBody>
      </p:sp>
      <p:sp>
        <p:nvSpPr>
          <p:cNvPr id="12" name="Text 10"/>
          <p:cNvSpPr/>
          <p:nvPr/>
        </p:nvSpPr>
        <p:spPr>
          <a:xfrm>
            <a:off x="6355728" y="2327131"/>
            <a:ext cx="2225024" cy="454656"/>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17202F"/>
                </a:solidFill>
                <a:latin typeface="IBM Plex Sans" pitchFamily="34" charset="0"/>
                <a:ea typeface="IBM Plex Sans" pitchFamily="34" charset="-122"/>
                <a:cs typeface="IBM Plex Sans" pitchFamily="34" charset="-120"/>
              </a:rPr>
              <a:t>PostgreSQL 17, Alembic migrations</a:t>
            </a:r>
            <a:endParaRPr lang="en-US" sz="1300" dirty="0"/>
          </a:p>
        </p:txBody>
      </p:sp>
      <p:sp>
        <p:nvSpPr>
          <p:cNvPr id="13" name="Shape 11"/>
          <p:cNvSpPr/>
          <p:nvPr/>
        </p:nvSpPr>
        <p:spPr>
          <a:xfrm>
            <a:off x="8855066" y="1882648"/>
            <a:ext cx="2520977" cy="1054118"/>
          </a:xfrm>
          <a:prstGeom prst="roundRect">
            <a:avLst>
              <a:gd name="adj" fmla="val 9337"/>
            </a:avLst>
          </a:prstGeom>
          <a:solidFill>
            <a:srgbClr val="FBFAF6"/>
          </a:solidFill>
          <a:ln w="6350">
            <a:solidFill>
              <a:srgbClr val="DDD8CB"/>
            </a:solidFill>
            <a:prstDash val="solid"/>
          </a:ln>
        </p:spPr>
      </p:sp>
      <p:sp>
        <p:nvSpPr>
          <p:cNvPr id="14" name="Text 12"/>
          <p:cNvSpPr/>
          <p:nvPr/>
        </p:nvSpPr>
        <p:spPr>
          <a:xfrm>
            <a:off x="9035445" y="2063028"/>
            <a:ext cx="22250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5BD3"/>
                </a:solidFill>
                <a:latin typeface="JetBrains Mono" pitchFamily="49" charset="0"/>
                <a:ea typeface="JetBrains Mono" pitchFamily="49" charset="-122"/>
                <a:cs typeface="JetBrains Mono" pitchFamily="49" charset="-120"/>
              </a:rPr>
              <a:t>Tests</a:t>
            </a:r>
            <a:endParaRPr lang="en-US" sz="1200" dirty="0"/>
          </a:p>
        </p:txBody>
      </p:sp>
      <p:sp>
        <p:nvSpPr>
          <p:cNvPr id="15" name="Text 13"/>
          <p:cNvSpPr/>
          <p:nvPr/>
        </p:nvSpPr>
        <p:spPr>
          <a:xfrm>
            <a:off x="9035445" y="2327131"/>
            <a:ext cx="2225024" cy="454656"/>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17202F"/>
                </a:solidFill>
                <a:latin typeface="IBM Plex Sans" pitchFamily="34" charset="0"/>
                <a:ea typeface="IBM Plex Sans" pitchFamily="34" charset="-122"/>
                <a:cs typeface="IBM Plex Sans" pitchFamily="34" charset="-120"/>
              </a:rPr>
              <a:t>29 pytest tests, ruff, node:test</a:t>
            </a:r>
            <a:endParaRPr lang="en-US" sz="1300" dirty="0"/>
          </a:p>
        </p:txBody>
      </p:sp>
      <p:sp>
        <p:nvSpPr>
          <p:cNvPr id="16" name="Shape 14"/>
          <p:cNvSpPr/>
          <p:nvPr/>
        </p:nvSpPr>
        <p:spPr>
          <a:xfrm>
            <a:off x="815957" y="3095507"/>
            <a:ext cx="2520932" cy="1054118"/>
          </a:xfrm>
          <a:prstGeom prst="roundRect">
            <a:avLst>
              <a:gd name="adj" fmla="val 9337"/>
            </a:avLst>
          </a:prstGeom>
          <a:solidFill>
            <a:srgbClr val="FBFAF6"/>
          </a:solidFill>
          <a:ln w="6350">
            <a:solidFill>
              <a:srgbClr val="DDD8CB"/>
            </a:solidFill>
            <a:prstDash val="solid"/>
          </a:ln>
        </p:spPr>
      </p:sp>
      <p:sp>
        <p:nvSpPr>
          <p:cNvPr id="17" name="Text 15"/>
          <p:cNvSpPr/>
          <p:nvPr/>
        </p:nvSpPr>
        <p:spPr>
          <a:xfrm>
            <a:off x="996337" y="3275887"/>
            <a:ext cx="222497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560F"/>
                </a:solidFill>
                <a:latin typeface="JetBrains Mono" pitchFamily="49" charset="0"/>
                <a:ea typeface="JetBrains Mono" pitchFamily="49" charset="-122"/>
                <a:cs typeface="JetBrains Mono" pitchFamily="49" charset="-120"/>
              </a:rPr>
              <a:t>Containers</a:t>
            </a:r>
            <a:endParaRPr lang="en-US" sz="1200" dirty="0"/>
          </a:p>
        </p:txBody>
      </p:sp>
      <p:sp>
        <p:nvSpPr>
          <p:cNvPr id="18" name="Text 16"/>
          <p:cNvSpPr/>
          <p:nvPr/>
        </p:nvSpPr>
        <p:spPr>
          <a:xfrm>
            <a:off x="996337" y="3539989"/>
            <a:ext cx="2224978" cy="454656"/>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17202F"/>
                </a:solidFill>
                <a:latin typeface="IBM Plex Sans" pitchFamily="34" charset="0"/>
                <a:ea typeface="IBM Plex Sans" pitchFamily="34" charset="-122"/>
                <a:cs typeface="IBM Plex Sans" pitchFamily="34" charset="-120"/>
              </a:rPr>
              <a:t>Multi-stage, non-root images + Compose</a:t>
            </a:r>
            <a:endParaRPr lang="en-US" sz="1300" dirty="0"/>
          </a:p>
        </p:txBody>
      </p:sp>
      <p:sp>
        <p:nvSpPr>
          <p:cNvPr id="19" name="Shape 17"/>
          <p:cNvSpPr/>
          <p:nvPr/>
        </p:nvSpPr>
        <p:spPr>
          <a:xfrm>
            <a:off x="3495630" y="3095507"/>
            <a:ext cx="2520977" cy="1054118"/>
          </a:xfrm>
          <a:prstGeom prst="roundRect">
            <a:avLst>
              <a:gd name="adj" fmla="val 9337"/>
            </a:avLst>
          </a:prstGeom>
          <a:solidFill>
            <a:srgbClr val="FBFAF6"/>
          </a:solidFill>
          <a:ln w="6350">
            <a:solidFill>
              <a:srgbClr val="DDD8CB"/>
            </a:solidFill>
            <a:prstDash val="solid"/>
          </a:ln>
        </p:spPr>
      </p:sp>
      <p:sp>
        <p:nvSpPr>
          <p:cNvPr id="20" name="Text 18"/>
          <p:cNvSpPr/>
          <p:nvPr/>
        </p:nvSpPr>
        <p:spPr>
          <a:xfrm>
            <a:off x="3676009" y="3275887"/>
            <a:ext cx="22250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560F"/>
                </a:solidFill>
                <a:latin typeface="JetBrains Mono" pitchFamily="49" charset="0"/>
                <a:ea typeface="JetBrains Mono" pitchFamily="49" charset="-122"/>
                <a:cs typeface="JetBrains Mono" pitchFamily="49" charset="-120"/>
              </a:rPr>
              <a:t>CI/CD</a:t>
            </a:r>
            <a:endParaRPr lang="en-US" sz="1200" dirty="0"/>
          </a:p>
        </p:txBody>
      </p:sp>
      <p:sp>
        <p:nvSpPr>
          <p:cNvPr id="21" name="Text 19"/>
          <p:cNvSpPr/>
          <p:nvPr/>
        </p:nvSpPr>
        <p:spPr>
          <a:xfrm>
            <a:off x="3676009" y="3539989"/>
            <a:ext cx="2225024" cy="454656"/>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17202F"/>
                </a:solidFill>
                <a:latin typeface="IBM Plex Sans" pitchFamily="34" charset="0"/>
                <a:ea typeface="IBM Plex Sans" pitchFamily="34" charset="-122"/>
                <a:cs typeface="IBM Plex Sans" pitchFamily="34" charset="-120"/>
              </a:rPr>
              <a:t>GitHub Actions → Trivy → GHCR</a:t>
            </a:r>
            <a:endParaRPr lang="en-US" sz="1300" dirty="0"/>
          </a:p>
        </p:txBody>
      </p:sp>
      <p:sp>
        <p:nvSpPr>
          <p:cNvPr id="22" name="Shape 20"/>
          <p:cNvSpPr/>
          <p:nvPr/>
        </p:nvSpPr>
        <p:spPr>
          <a:xfrm>
            <a:off x="6175348" y="3095507"/>
            <a:ext cx="2520977" cy="1054118"/>
          </a:xfrm>
          <a:prstGeom prst="roundRect">
            <a:avLst>
              <a:gd name="adj" fmla="val 9337"/>
            </a:avLst>
          </a:prstGeom>
          <a:solidFill>
            <a:srgbClr val="FBFAF6"/>
          </a:solidFill>
          <a:ln w="6350">
            <a:solidFill>
              <a:srgbClr val="DDD8CB"/>
            </a:solidFill>
            <a:prstDash val="solid"/>
          </a:ln>
        </p:spPr>
      </p:sp>
      <p:sp>
        <p:nvSpPr>
          <p:cNvPr id="23" name="Text 21"/>
          <p:cNvSpPr/>
          <p:nvPr/>
        </p:nvSpPr>
        <p:spPr>
          <a:xfrm>
            <a:off x="6355728" y="3275887"/>
            <a:ext cx="22250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560F"/>
                </a:solidFill>
                <a:latin typeface="JetBrains Mono" pitchFamily="49" charset="0"/>
                <a:ea typeface="JetBrains Mono" pitchFamily="49" charset="-122"/>
                <a:cs typeface="JetBrains Mono" pitchFamily="49" charset="-120"/>
              </a:rPr>
              <a:t>Infrastructure</a:t>
            </a:r>
            <a:endParaRPr lang="en-US" sz="1200" dirty="0"/>
          </a:p>
        </p:txBody>
      </p:sp>
      <p:sp>
        <p:nvSpPr>
          <p:cNvPr id="24" name="Text 22"/>
          <p:cNvSpPr/>
          <p:nvPr/>
        </p:nvSpPr>
        <p:spPr>
          <a:xfrm>
            <a:off x="6355728" y="3539989"/>
            <a:ext cx="2225024" cy="454656"/>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17202F"/>
                </a:solidFill>
                <a:latin typeface="IBM Plex Sans" pitchFamily="34" charset="0"/>
                <a:ea typeface="IBM Plex Sans" pitchFamily="34" charset="-122"/>
                <a:cs typeface="IBM Plex Sans" pitchFamily="34" charset="-120"/>
              </a:rPr>
              <a:t>Terraform: VPC + EKS on AWS</a:t>
            </a:r>
            <a:endParaRPr lang="en-US" sz="1300" dirty="0"/>
          </a:p>
        </p:txBody>
      </p:sp>
      <p:sp>
        <p:nvSpPr>
          <p:cNvPr id="25" name="Shape 23"/>
          <p:cNvSpPr/>
          <p:nvPr/>
        </p:nvSpPr>
        <p:spPr>
          <a:xfrm>
            <a:off x="8855066" y="3095507"/>
            <a:ext cx="2520977" cy="1054118"/>
          </a:xfrm>
          <a:prstGeom prst="roundRect">
            <a:avLst>
              <a:gd name="adj" fmla="val 9337"/>
            </a:avLst>
          </a:prstGeom>
          <a:solidFill>
            <a:srgbClr val="FBFAF6"/>
          </a:solidFill>
          <a:ln w="6350">
            <a:solidFill>
              <a:srgbClr val="DDD8CB"/>
            </a:solidFill>
            <a:prstDash val="solid"/>
          </a:ln>
        </p:spPr>
      </p:sp>
      <p:sp>
        <p:nvSpPr>
          <p:cNvPr id="26" name="Text 24"/>
          <p:cNvSpPr/>
          <p:nvPr/>
        </p:nvSpPr>
        <p:spPr>
          <a:xfrm>
            <a:off x="9035445" y="3275887"/>
            <a:ext cx="22250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560F"/>
                </a:solidFill>
                <a:latin typeface="JetBrains Mono" pitchFamily="49" charset="0"/>
                <a:ea typeface="JetBrains Mono" pitchFamily="49" charset="-122"/>
                <a:cs typeface="JetBrains Mono" pitchFamily="49" charset="-120"/>
              </a:rPr>
              <a:t>Deployment</a:t>
            </a:r>
            <a:endParaRPr lang="en-US" sz="1200" dirty="0"/>
          </a:p>
        </p:txBody>
      </p:sp>
      <p:sp>
        <p:nvSpPr>
          <p:cNvPr id="27" name="Text 25"/>
          <p:cNvSpPr/>
          <p:nvPr/>
        </p:nvSpPr>
        <p:spPr>
          <a:xfrm>
            <a:off x="9035445" y="3539989"/>
            <a:ext cx="2225024" cy="454656"/>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17202F"/>
                </a:solidFill>
                <a:latin typeface="IBM Plex Sans" pitchFamily="34" charset="0"/>
                <a:ea typeface="IBM Plex Sans" pitchFamily="34" charset="-122"/>
                <a:cs typeface="IBM Plex Sans" pitchFamily="34" charset="-120"/>
              </a:rPr>
              <a:t>Helm: Ingress, HPA, PDBs, StatefulSet</a:t>
            </a:r>
            <a:endParaRPr lang="en-US" sz="1300" dirty="0"/>
          </a:p>
        </p:txBody>
      </p:sp>
      <p:sp>
        <p:nvSpPr>
          <p:cNvPr id="28" name="Shape 26"/>
          <p:cNvSpPr/>
          <p:nvPr/>
        </p:nvSpPr>
        <p:spPr>
          <a:xfrm>
            <a:off x="815957" y="4308366"/>
            <a:ext cx="2520932" cy="1054118"/>
          </a:xfrm>
          <a:prstGeom prst="roundRect">
            <a:avLst>
              <a:gd name="adj" fmla="val 9337"/>
            </a:avLst>
          </a:prstGeom>
          <a:solidFill>
            <a:srgbClr val="17202F"/>
          </a:solidFill>
          <a:ln w="6350">
            <a:solidFill>
              <a:srgbClr val="17202F"/>
            </a:solidFill>
            <a:prstDash val="solid"/>
          </a:ln>
        </p:spPr>
      </p:sp>
      <p:sp>
        <p:nvSpPr>
          <p:cNvPr id="29" name="Text 27"/>
          <p:cNvSpPr/>
          <p:nvPr/>
        </p:nvSpPr>
        <p:spPr>
          <a:xfrm>
            <a:off x="996337" y="4488746"/>
            <a:ext cx="222497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0B04F"/>
                </a:solidFill>
                <a:latin typeface="JetBrains Mono" pitchFamily="49" charset="0"/>
                <a:ea typeface="JetBrains Mono" pitchFamily="49" charset="-122"/>
                <a:cs typeface="JetBrains Mono" pitchFamily="49" charset="-120"/>
              </a:rPr>
              <a:t>GitOps</a:t>
            </a:r>
            <a:endParaRPr lang="en-US" sz="1200" dirty="0"/>
          </a:p>
        </p:txBody>
      </p:sp>
      <p:sp>
        <p:nvSpPr>
          <p:cNvPr id="30" name="Text 28"/>
          <p:cNvSpPr/>
          <p:nvPr/>
        </p:nvSpPr>
        <p:spPr>
          <a:xfrm>
            <a:off x="996337" y="4752848"/>
            <a:ext cx="2224978" cy="454656"/>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EDEBE4"/>
                </a:solidFill>
                <a:latin typeface="IBM Plex Sans" pitchFamily="34" charset="0"/>
                <a:ea typeface="IBM Plex Sans" pitchFamily="34" charset="-122"/>
                <a:cs typeface="IBM Plex Sans" pitchFamily="34" charset="-120"/>
              </a:rPr>
              <a:t>Argo CD syncs the chart; CI bumps the tag</a:t>
            </a:r>
            <a:endParaRPr lang="en-US" sz="1300" dirty="0"/>
          </a:p>
        </p:txBody>
      </p:sp>
      <p:sp>
        <p:nvSpPr>
          <p:cNvPr id="31" name="Shape 29"/>
          <p:cNvSpPr/>
          <p:nvPr/>
        </p:nvSpPr>
        <p:spPr>
          <a:xfrm>
            <a:off x="3495630" y="4308366"/>
            <a:ext cx="2520977" cy="1054118"/>
          </a:xfrm>
          <a:prstGeom prst="roundRect">
            <a:avLst>
              <a:gd name="adj" fmla="val 9337"/>
            </a:avLst>
          </a:prstGeom>
          <a:solidFill>
            <a:srgbClr val="17202F"/>
          </a:solidFill>
          <a:ln w="6350">
            <a:solidFill>
              <a:srgbClr val="17202F"/>
            </a:solidFill>
            <a:prstDash val="solid"/>
          </a:ln>
        </p:spPr>
      </p:sp>
      <p:sp>
        <p:nvSpPr>
          <p:cNvPr id="32" name="Text 30"/>
          <p:cNvSpPr/>
          <p:nvPr/>
        </p:nvSpPr>
        <p:spPr>
          <a:xfrm>
            <a:off x="3676009" y="4488746"/>
            <a:ext cx="22250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0B04F"/>
                </a:solidFill>
                <a:latin typeface="JetBrains Mono" pitchFamily="49" charset="0"/>
                <a:ea typeface="JetBrains Mono" pitchFamily="49" charset="-122"/>
                <a:cs typeface="JetBrains Mono" pitchFamily="49" charset="-120"/>
              </a:rPr>
              <a:t>Monitoring</a:t>
            </a:r>
            <a:endParaRPr lang="en-US" sz="1200" dirty="0"/>
          </a:p>
        </p:txBody>
      </p:sp>
      <p:sp>
        <p:nvSpPr>
          <p:cNvPr id="33" name="Text 31"/>
          <p:cNvSpPr/>
          <p:nvPr/>
        </p:nvSpPr>
        <p:spPr>
          <a:xfrm>
            <a:off x="3676009" y="4752848"/>
            <a:ext cx="2225024" cy="454656"/>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EDEBE4"/>
                </a:solidFill>
                <a:latin typeface="IBM Plex Sans" pitchFamily="34" charset="0"/>
                <a:ea typeface="IBM Plex Sans" pitchFamily="34" charset="-122"/>
                <a:cs typeface="IBM Plex Sans" pitchFamily="34" charset="-120"/>
              </a:rPr>
              <a:t>Prometheus + Grafana, custom dashboard</a:t>
            </a:r>
            <a:endParaRPr lang="en-US" sz="1300" dirty="0"/>
          </a:p>
        </p:txBody>
      </p:sp>
      <p:sp>
        <p:nvSpPr>
          <p:cNvPr id="34" name="Shape 32"/>
          <p:cNvSpPr/>
          <p:nvPr/>
        </p:nvSpPr>
        <p:spPr>
          <a:xfrm>
            <a:off x="6175348" y="4308366"/>
            <a:ext cx="2520977" cy="1054118"/>
          </a:xfrm>
          <a:prstGeom prst="roundRect">
            <a:avLst>
              <a:gd name="adj" fmla="val 9337"/>
            </a:avLst>
          </a:prstGeom>
          <a:solidFill>
            <a:srgbClr val="17202F"/>
          </a:solidFill>
          <a:ln w="6350">
            <a:solidFill>
              <a:srgbClr val="17202F"/>
            </a:solidFill>
            <a:prstDash val="solid"/>
          </a:ln>
        </p:spPr>
      </p:sp>
      <p:sp>
        <p:nvSpPr>
          <p:cNvPr id="35" name="Text 33"/>
          <p:cNvSpPr/>
          <p:nvPr/>
        </p:nvSpPr>
        <p:spPr>
          <a:xfrm>
            <a:off x="6355728" y="4488746"/>
            <a:ext cx="22250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0B04F"/>
                </a:solidFill>
                <a:latin typeface="JetBrains Mono" pitchFamily="49" charset="0"/>
                <a:ea typeface="JetBrains Mono" pitchFamily="49" charset="-122"/>
                <a:cs typeface="JetBrains Mono" pitchFamily="49" charset="-120"/>
              </a:rPr>
              <a:t>Security</a:t>
            </a:r>
            <a:endParaRPr lang="en-US" sz="1200" dirty="0"/>
          </a:p>
        </p:txBody>
      </p:sp>
      <p:sp>
        <p:nvSpPr>
          <p:cNvPr id="36" name="Text 34"/>
          <p:cNvSpPr/>
          <p:nvPr/>
        </p:nvSpPr>
        <p:spPr>
          <a:xfrm>
            <a:off x="6355728" y="4752848"/>
            <a:ext cx="2225024" cy="454656"/>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EDEBE4"/>
                </a:solidFill>
                <a:latin typeface="IBM Plex Sans" pitchFamily="34" charset="0"/>
                <a:ea typeface="IBM Plex Sans" pitchFamily="34" charset="-122"/>
                <a:cs typeface="IBM Plex Sans" pitchFamily="34" charset="-120"/>
              </a:rPr>
              <a:t>Restricted Pod Security, read-only root FS</a:t>
            </a:r>
            <a:endParaRPr lang="en-US" sz="1300" dirty="0"/>
          </a:p>
        </p:txBody>
      </p:sp>
      <p:sp>
        <p:nvSpPr>
          <p:cNvPr id="37" name="Shape 35"/>
          <p:cNvSpPr/>
          <p:nvPr/>
        </p:nvSpPr>
        <p:spPr>
          <a:xfrm>
            <a:off x="8855066" y="4308366"/>
            <a:ext cx="2520977" cy="1054118"/>
          </a:xfrm>
          <a:prstGeom prst="roundRect">
            <a:avLst>
              <a:gd name="adj" fmla="val 9337"/>
            </a:avLst>
          </a:prstGeom>
          <a:solidFill>
            <a:srgbClr val="17202F"/>
          </a:solidFill>
          <a:ln w="6350">
            <a:solidFill>
              <a:srgbClr val="17202F"/>
            </a:solidFill>
            <a:prstDash val="solid"/>
          </a:ln>
        </p:spPr>
      </p:sp>
      <p:sp>
        <p:nvSpPr>
          <p:cNvPr id="38" name="Text 36"/>
          <p:cNvSpPr/>
          <p:nvPr/>
        </p:nvSpPr>
        <p:spPr>
          <a:xfrm>
            <a:off x="9035445" y="4488746"/>
            <a:ext cx="22250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0B04F"/>
                </a:solidFill>
                <a:latin typeface="JetBrains Mono" pitchFamily="49" charset="0"/>
                <a:ea typeface="JetBrains Mono" pitchFamily="49" charset="-122"/>
                <a:cs typeface="JetBrains Mono" pitchFamily="49" charset="-120"/>
              </a:rPr>
              <a:t>Labs</a:t>
            </a:r>
            <a:endParaRPr lang="en-US" sz="1200" dirty="0"/>
          </a:p>
        </p:txBody>
      </p:sp>
      <p:sp>
        <p:nvSpPr>
          <p:cNvPr id="39" name="Text 37"/>
          <p:cNvSpPr/>
          <p:nvPr/>
        </p:nvSpPr>
        <p:spPr>
          <a:xfrm>
            <a:off x="9035445" y="4752848"/>
            <a:ext cx="2225024" cy="454656"/>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EDEBE4"/>
                </a:solidFill>
                <a:latin typeface="IBM Plex Sans" pitchFamily="34" charset="0"/>
                <a:ea typeface="IBM Plex Sans" pitchFamily="34" charset="-122"/>
                <a:cs typeface="IBM Plex Sans" pitchFamily="34" charset="-120"/>
              </a:rPr>
              <a:t>Four break-and-fix troubleshooting labs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526"/>
        </a:solidFill>
      </p:bgPr>
    </p:bg>
    <p:spTree>
      <p:nvGrpSpPr>
        <p:cNvPr id="1" name=""/>
        <p:cNvGrpSpPr/>
        <p:nvPr/>
      </p:nvGrpSpPr>
      <p:grpSpPr>
        <a:xfrm>
          <a:off x="0" y="0"/>
          <a:ext cx="0" cy="0"/>
          <a:chOff x="0" y="0"/>
          <a:chExt cx="0" cy="0"/>
        </a:xfrm>
      </p:grpSpPr>
      <p:sp>
        <p:nvSpPr>
          <p:cNvPr id="2" name="Text 0"/>
          <p:cNvSpPr/>
          <p:nvPr/>
        </p:nvSpPr>
        <p:spPr>
          <a:xfrm>
            <a:off x="812782" y="812781"/>
            <a:ext cx="10883429"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F0B04F"/>
                </a:solidFill>
                <a:latin typeface="JetBrains Mono" pitchFamily="49" charset="0"/>
                <a:ea typeface="JetBrains Mono" pitchFamily="49" charset="-122"/>
                <a:cs typeface="JetBrains Mono" pitchFamily="49" charset="-120"/>
              </a:rPr>
              <a:t>THE PATH</a:t>
            </a:r>
            <a:endParaRPr lang="en-US" sz="1200" dirty="0"/>
          </a:p>
        </p:txBody>
      </p:sp>
      <p:sp>
        <p:nvSpPr>
          <p:cNvPr id="3" name="Text 1"/>
          <p:cNvSpPr/>
          <p:nvPr>
            <p:ph type="title"/>
          </p:nvPr>
        </p:nvSpPr>
        <p:spPr>
          <a:xfrm>
            <a:off x="812782" y="1127666"/>
            <a:ext cx="10883429" cy="472426"/>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F7F5EF"/>
                </a:solidFill>
                <a:latin typeface="Space Grotesk" pitchFamily="34" charset="0"/>
                <a:ea typeface="Space Grotesk" pitchFamily="34" charset="-122"/>
                <a:cs typeface="Space Grotesk" pitchFamily="34" charset="-120"/>
              </a:rPr>
              <a:t>From git push to a running pod</a:t>
            </a:r>
            <a:endParaRPr lang="en-US" sz="3200" dirty="0"/>
          </a:p>
        </p:txBody>
      </p:sp>
      <p:sp>
        <p:nvSpPr>
          <p:cNvPr id="4" name="Shape 2"/>
          <p:cNvSpPr/>
          <p:nvPr/>
        </p:nvSpPr>
        <p:spPr>
          <a:xfrm>
            <a:off x="815957" y="1985474"/>
            <a:ext cx="1741208" cy="1016009"/>
          </a:xfrm>
          <a:prstGeom prst="roundRect">
            <a:avLst>
              <a:gd name="adj" fmla="val 9687"/>
            </a:avLst>
          </a:prstGeom>
          <a:solidFill>
            <a:srgbClr val="18223A"/>
          </a:solidFill>
          <a:ln w="6350">
            <a:solidFill>
              <a:srgbClr val="2B3A5C"/>
            </a:solidFill>
            <a:prstDash val="solid"/>
          </a:ln>
        </p:spPr>
      </p:sp>
      <p:sp>
        <p:nvSpPr>
          <p:cNvPr id="5" name="Text 3"/>
          <p:cNvSpPr/>
          <p:nvPr/>
        </p:nvSpPr>
        <p:spPr>
          <a:xfrm>
            <a:off x="970946" y="2140463"/>
            <a:ext cx="1482030" cy="2692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5EF"/>
                </a:solidFill>
                <a:latin typeface="Space Grotesk" pitchFamily="34" charset="0"/>
                <a:ea typeface="Space Grotesk" pitchFamily="34" charset="-122"/>
                <a:cs typeface="Space Grotesk" pitchFamily="34" charset="-120"/>
              </a:rPr>
              <a:t>Push</a:t>
            </a:r>
            <a:endParaRPr lang="en-US" sz="1600" dirty="0"/>
          </a:p>
        </p:txBody>
      </p:sp>
      <p:sp>
        <p:nvSpPr>
          <p:cNvPr id="6" name="Text 4"/>
          <p:cNvSpPr/>
          <p:nvPr/>
        </p:nvSpPr>
        <p:spPr>
          <a:xfrm>
            <a:off x="970946" y="2435098"/>
            <a:ext cx="1482030" cy="43679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A9B4C6"/>
                </a:solidFill>
                <a:latin typeface="IBM Plex Sans" pitchFamily="34" charset="0"/>
                <a:ea typeface="IBM Plex Sans" pitchFamily="34" charset="-122"/>
                <a:cs typeface="IBM Plex Sans" pitchFamily="34" charset="-120"/>
              </a:rPr>
              <a:t>to main, or open a pull request</a:t>
            </a:r>
            <a:endParaRPr lang="en-US" sz="1200" dirty="0"/>
          </a:p>
        </p:txBody>
      </p:sp>
      <p:pic>
        <p:nvPicPr>
          <p:cNvPr id="7" name="Image 0" descr="arrow-right">    </p:cNvPr>
          <p:cNvPicPr>
            <a:picLocks noChangeAspect="1"/>
          </p:cNvPicPr>
          <p:nvPr/>
        </p:nvPicPr>
        <p:blipFill>
          <a:blip r:embed="rId1"/>
          <a:srcRect l="-3" r="-3" t="0" b="0"/>
          <a:stretch/>
        </p:blipFill>
        <p:spPr>
          <a:xfrm>
            <a:off x="2661904" y="2417283"/>
            <a:ext cx="254000" cy="152391"/>
          </a:xfrm>
          <a:prstGeom prst="rect">
            <a:avLst/>
          </a:prstGeom>
        </p:spPr>
      </p:pic>
      <p:sp>
        <p:nvSpPr>
          <p:cNvPr id="8" name="Shape 5"/>
          <p:cNvSpPr/>
          <p:nvPr/>
        </p:nvSpPr>
        <p:spPr>
          <a:xfrm>
            <a:off x="3020643" y="1882648"/>
            <a:ext cx="1741253" cy="1221708"/>
          </a:xfrm>
          <a:prstGeom prst="roundRect">
            <a:avLst>
              <a:gd name="adj" fmla="val 8056"/>
            </a:avLst>
          </a:prstGeom>
          <a:solidFill>
            <a:srgbClr val="18223A"/>
          </a:solidFill>
          <a:ln w="6350">
            <a:solidFill>
              <a:srgbClr val="2B3A5C"/>
            </a:solidFill>
            <a:prstDash val="solid"/>
          </a:ln>
        </p:spPr>
      </p:sp>
      <p:sp>
        <p:nvSpPr>
          <p:cNvPr id="9" name="Text 6"/>
          <p:cNvSpPr/>
          <p:nvPr/>
        </p:nvSpPr>
        <p:spPr>
          <a:xfrm>
            <a:off x="3175631" y="2037637"/>
            <a:ext cx="1482076" cy="2692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5EF"/>
                </a:solidFill>
                <a:latin typeface="Space Grotesk" pitchFamily="34" charset="0"/>
                <a:ea typeface="Space Grotesk" pitchFamily="34" charset="-122"/>
                <a:cs typeface="Space Grotesk" pitchFamily="34" charset="-120"/>
              </a:rPr>
              <a:t>Test</a:t>
            </a:r>
            <a:endParaRPr lang="en-US" sz="1600" dirty="0"/>
          </a:p>
        </p:txBody>
      </p:sp>
      <p:sp>
        <p:nvSpPr>
          <p:cNvPr id="10" name="Text 7"/>
          <p:cNvSpPr/>
          <p:nvPr/>
        </p:nvSpPr>
        <p:spPr>
          <a:xfrm>
            <a:off x="3175631" y="2332272"/>
            <a:ext cx="1482076" cy="642496"/>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A9B4C6"/>
                </a:solidFill>
                <a:latin typeface="IBM Plex Sans" pitchFamily="34" charset="0"/>
                <a:ea typeface="IBM Plex Sans" pitchFamily="34" charset="-122"/>
                <a:cs typeface="IBM Plex Sans" pitchFamily="34" charset="-120"/>
              </a:rPr>
              <a:t>ruff, pytest, node:test, helm lint, terraform test</a:t>
            </a:r>
            <a:endParaRPr lang="en-US" sz="1200" dirty="0"/>
          </a:p>
        </p:txBody>
      </p:sp>
      <p:pic>
        <p:nvPicPr>
          <p:cNvPr id="11" name="Image 1" descr="arrow-right">    </p:cNvPr>
          <p:cNvPicPr>
            <a:picLocks noChangeAspect="1"/>
          </p:cNvPicPr>
          <p:nvPr/>
        </p:nvPicPr>
        <p:blipFill>
          <a:blip r:embed="rId2"/>
          <a:srcRect l="-3" r="-3" t="0" b="0"/>
          <a:stretch/>
        </p:blipFill>
        <p:spPr>
          <a:xfrm>
            <a:off x="4866634" y="2417283"/>
            <a:ext cx="254000" cy="152391"/>
          </a:xfrm>
          <a:prstGeom prst="rect">
            <a:avLst/>
          </a:prstGeom>
        </p:spPr>
      </p:pic>
      <p:sp>
        <p:nvSpPr>
          <p:cNvPr id="12" name="Shape 8"/>
          <p:cNvSpPr/>
          <p:nvPr/>
        </p:nvSpPr>
        <p:spPr>
          <a:xfrm>
            <a:off x="5225373" y="1985474"/>
            <a:ext cx="1741208" cy="1016009"/>
          </a:xfrm>
          <a:prstGeom prst="roundRect">
            <a:avLst>
              <a:gd name="adj" fmla="val 9687"/>
            </a:avLst>
          </a:prstGeom>
          <a:solidFill>
            <a:srgbClr val="18223A"/>
          </a:solidFill>
          <a:ln w="6350">
            <a:solidFill>
              <a:srgbClr val="2B3A5C"/>
            </a:solidFill>
            <a:prstDash val="solid"/>
          </a:ln>
        </p:spPr>
      </p:sp>
      <p:sp>
        <p:nvSpPr>
          <p:cNvPr id="13" name="Text 9"/>
          <p:cNvSpPr/>
          <p:nvPr/>
        </p:nvSpPr>
        <p:spPr>
          <a:xfrm>
            <a:off x="5380362" y="2140463"/>
            <a:ext cx="1482030" cy="2692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5EF"/>
                </a:solidFill>
                <a:latin typeface="Space Grotesk" pitchFamily="34" charset="0"/>
                <a:ea typeface="Space Grotesk" pitchFamily="34" charset="-122"/>
                <a:cs typeface="Space Grotesk" pitchFamily="34" charset="-120"/>
              </a:rPr>
              <a:t>Build</a:t>
            </a:r>
            <a:endParaRPr lang="en-US" sz="1600" dirty="0"/>
          </a:p>
        </p:txBody>
      </p:sp>
      <p:sp>
        <p:nvSpPr>
          <p:cNvPr id="14" name="Text 10"/>
          <p:cNvSpPr/>
          <p:nvPr/>
        </p:nvSpPr>
        <p:spPr>
          <a:xfrm>
            <a:off x="5380362" y="2435098"/>
            <a:ext cx="1482030" cy="43679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A9B4C6"/>
                </a:solidFill>
                <a:latin typeface="IBM Plex Sans" pitchFamily="34" charset="0"/>
                <a:ea typeface="IBM Plex Sans" pitchFamily="34" charset="-122"/>
                <a:cs typeface="IBM Plex Sans" pitchFamily="34" charset="-120"/>
              </a:rPr>
              <a:t>multi-stage Docker images</a:t>
            </a:r>
            <a:endParaRPr lang="en-US" sz="1200" dirty="0"/>
          </a:p>
        </p:txBody>
      </p:sp>
      <p:pic>
        <p:nvPicPr>
          <p:cNvPr id="15" name="Image 2" descr="arrow-right">    </p:cNvPr>
          <p:cNvPicPr>
            <a:picLocks noChangeAspect="1"/>
          </p:cNvPicPr>
          <p:nvPr/>
        </p:nvPicPr>
        <p:blipFill>
          <a:blip r:embed="rId3"/>
          <a:srcRect l="-3" r="-3" t="0" b="0"/>
          <a:stretch/>
        </p:blipFill>
        <p:spPr>
          <a:xfrm>
            <a:off x="7071320" y="2417283"/>
            <a:ext cx="254000" cy="152391"/>
          </a:xfrm>
          <a:prstGeom prst="rect">
            <a:avLst/>
          </a:prstGeom>
        </p:spPr>
      </p:pic>
      <p:sp>
        <p:nvSpPr>
          <p:cNvPr id="16" name="Shape 11"/>
          <p:cNvSpPr/>
          <p:nvPr/>
        </p:nvSpPr>
        <p:spPr>
          <a:xfrm>
            <a:off x="7430059" y="1985474"/>
            <a:ext cx="1741253" cy="1016009"/>
          </a:xfrm>
          <a:prstGeom prst="roundRect">
            <a:avLst>
              <a:gd name="adj" fmla="val 9687"/>
            </a:avLst>
          </a:prstGeom>
          <a:solidFill>
            <a:srgbClr val="3A2A12"/>
          </a:solidFill>
          <a:ln w="6350">
            <a:solidFill>
              <a:srgbClr val="F0B04F"/>
            </a:solidFill>
            <a:prstDash val="solid"/>
          </a:ln>
        </p:spPr>
      </p:sp>
      <p:sp>
        <p:nvSpPr>
          <p:cNvPr id="17" name="Text 12"/>
          <p:cNvSpPr/>
          <p:nvPr/>
        </p:nvSpPr>
        <p:spPr>
          <a:xfrm>
            <a:off x="7585048" y="2140463"/>
            <a:ext cx="1482076" cy="2692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5EF"/>
                </a:solidFill>
                <a:latin typeface="Space Grotesk" pitchFamily="34" charset="0"/>
                <a:ea typeface="Space Grotesk" pitchFamily="34" charset="-122"/>
                <a:cs typeface="Space Grotesk" pitchFamily="34" charset="-120"/>
              </a:rPr>
              <a:t>Scan</a:t>
            </a:r>
            <a:endParaRPr lang="en-US" sz="1600" dirty="0"/>
          </a:p>
        </p:txBody>
      </p:sp>
      <p:sp>
        <p:nvSpPr>
          <p:cNvPr id="18" name="Text 13"/>
          <p:cNvSpPr/>
          <p:nvPr/>
        </p:nvSpPr>
        <p:spPr>
          <a:xfrm>
            <a:off x="7585048" y="2435098"/>
            <a:ext cx="1482076" cy="43679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3D9AE"/>
                </a:solidFill>
                <a:latin typeface="IBM Plex Sans" pitchFamily="34" charset="0"/>
                <a:ea typeface="IBM Plex Sans" pitchFamily="34" charset="-122"/>
                <a:cs typeface="IBM Plex Sans" pitchFamily="34" charset="-120"/>
              </a:rPr>
              <a:t>Trivy fails on HIGH or CRITICAL</a:t>
            </a:r>
            <a:endParaRPr lang="en-US" sz="1200" dirty="0"/>
          </a:p>
        </p:txBody>
      </p:sp>
      <p:pic>
        <p:nvPicPr>
          <p:cNvPr id="19" name="Image 3" descr="arrow-right">    </p:cNvPr>
          <p:cNvPicPr>
            <a:picLocks noChangeAspect="1"/>
          </p:cNvPicPr>
          <p:nvPr/>
        </p:nvPicPr>
        <p:blipFill>
          <a:blip r:embed="rId4"/>
          <a:srcRect l="-3" r="-3" t="0" b="0"/>
          <a:stretch/>
        </p:blipFill>
        <p:spPr>
          <a:xfrm>
            <a:off x="9276051" y="2417283"/>
            <a:ext cx="254000" cy="152391"/>
          </a:xfrm>
          <a:prstGeom prst="rect">
            <a:avLst/>
          </a:prstGeom>
        </p:spPr>
      </p:pic>
      <p:sp>
        <p:nvSpPr>
          <p:cNvPr id="20" name="Shape 14"/>
          <p:cNvSpPr/>
          <p:nvPr/>
        </p:nvSpPr>
        <p:spPr>
          <a:xfrm>
            <a:off x="9634789" y="1985474"/>
            <a:ext cx="1741253" cy="1016009"/>
          </a:xfrm>
          <a:prstGeom prst="roundRect">
            <a:avLst>
              <a:gd name="adj" fmla="val 9687"/>
            </a:avLst>
          </a:prstGeom>
          <a:solidFill>
            <a:srgbClr val="18223A"/>
          </a:solidFill>
          <a:ln w="6350">
            <a:solidFill>
              <a:srgbClr val="2B3A5C"/>
            </a:solidFill>
            <a:prstDash val="solid"/>
          </a:ln>
        </p:spPr>
      </p:sp>
      <p:sp>
        <p:nvSpPr>
          <p:cNvPr id="21" name="Text 15"/>
          <p:cNvSpPr/>
          <p:nvPr/>
        </p:nvSpPr>
        <p:spPr>
          <a:xfrm>
            <a:off x="9789778" y="2140463"/>
            <a:ext cx="1482076" cy="2692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5EF"/>
                </a:solidFill>
                <a:latin typeface="Space Grotesk" pitchFamily="34" charset="0"/>
                <a:ea typeface="Space Grotesk" pitchFamily="34" charset="-122"/>
                <a:cs typeface="Space Grotesk" pitchFamily="34" charset="-120"/>
              </a:rPr>
              <a:t>Publish</a:t>
            </a:r>
            <a:endParaRPr lang="en-US" sz="1600" dirty="0"/>
          </a:p>
        </p:txBody>
      </p:sp>
      <p:sp>
        <p:nvSpPr>
          <p:cNvPr id="22" name="Text 16"/>
          <p:cNvSpPr/>
          <p:nvPr/>
        </p:nvSpPr>
        <p:spPr>
          <a:xfrm>
            <a:off x="9789778" y="2435098"/>
            <a:ext cx="1482076" cy="43679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A9B4C6"/>
                </a:solidFill>
                <a:latin typeface="IBM Plex Sans" pitchFamily="34" charset="0"/>
                <a:ea typeface="IBM Plex Sans" pitchFamily="34" charset="-122"/>
                <a:cs typeface="IBM Plex Sans" pitchFamily="34" charset="-120"/>
              </a:rPr>
              <a:t>GHCR, tagged with the commit SHA</a:t>
            </a:r>
            <a:endParaRPr lang="en-US" sz="1200" dirty="0"/>
          </a:p>
        </p:txBody>
      </p:sp>
      <p:sp>
        <p:nvSpPr>
          <p:cNvPr id="23" name="Shape 17"/>
          <p:cNvSpPr/>
          <p:nvPr/>
        </p:nvSpPr>
        <p:spPr>
          <a:xfrm>
            <a:off x="815957" y="3415488"/>
            <a:ext cx="5200650" cy="814054"/>
          </a:xfrm>
          <a:prstGeom prst="roundRect">
            <a:avLst>
              <a:gd name="adj" fmla="val 12091"/>
            </a:avLst>
          </a:prstGeom>
          <a:solidFill>
            <a:srgbClr val="18223A"/>
          </a:solidFill>
          <a:ln w="6350">
            <a:solidFill>
              <a:srgbClr val="2B3A5C"/>
            </a:solidFill>
            <a:prstDash val="solid"/>
          </a:ln>
        </p:spPr>
      </p:sp>
      <p:sp>
        <p:nvSpPr>
          <p:cNvPr id="24" name="Text 18"/>
          <p:cNvSpPr/>
          <p:nvPr/>
        </p:nvSpPr>
        <p:spPr>
          <a:xfrm>
            <a:off x="970946" y="3570477"/>
            <a:ext cx="50373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B0FF"/>
                </a:solidFill>
                <a:latin typeface="JetBrains Mono" pitchFamily="49" charset="0"/>
                <a:ea typeface="JetBrains Mono" pitchFamily="49" charset="-122"/>
                <a:cs typeface="JetBrains Mono" pitchFamily="49" charset="-120"/>
              </a:rPr>
              <a:t>Deploy · DEPLOY_TARGET=eks</a:t>
            </a:r>
            <a:endParaRPr lang="en-US" sz="1200" dirty="0"/>
          </a:p>
        </p:txBody>
      </p:sp>
      <p:sp>
        <p:nvSpPr>
          <p:cNvPr id="25" name="Text 19"/>
          <p:cNvSpPr/>
          <p:nvPr/>
        </p:nvSpPr>
        <p:spPr>
          <a:xfrm>
            <a:off x="970946" y="3834578"/>
            <a:ext cx="5037393" cy="265374"/>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EDEBE4"/>
                </a:solidFill>
                <a:latin typeface="IBM Plex Sans" pitchFamily="34" charset="0"/>
                <a:ea typeface="IBM Plex Sans" pitchFamily="34" charset="-122"/>
                <a:cs typeface="IBM Plex Sans" pitchFamily="34" charset="-120"/>
              </a:rPr>
              <a:t>helm upgrade straight onto the EKS cluster</a:t>
            </a:r>
            <a:endParaRPr lang="en-US" sz="1400" dirty="0"/>
          </a:p>
        </p:txBody>
      </p:sp>
      <p:sp>
        <p:nvSpPr>
          <p:cNvPr id="26" name="Shape 20"/>
          <p:cNvSpPr/>
          <p:nvPr/>
        </p:nvSpPr>
        <p:spPr>
          <a:xfrm>
            <a:off x="6175348" y="3415488"/>
            <a:ext cx="5200695" cy="814054"/>
          </a:xfrm>
          <a:prstGeom prst="roundRect">
            <a:avLst>
              <a:gd name="adj" fmla="val 12091"/>
            </a:avLst>
          </a:prstGeom>
          <a:solidFill>
            <a:srgbClr val="18223A"/>
          </a:solidFill>
          <a:ln w="6350">
            <a:solidFill>
              <a:srgbClr val="2B3A5C"/>
            </a:solidFill>
            <a:prstDash val="solid"/>
          </a:ln>
        </p:spPr>
      </p:sp>
      <p:sp>
        <p:nvSpPr>
          <p:cNvPr id="27" name="Text 21"/>
          <p:cNvSpPr/>
          <p:nvPr/>
        </p:nvSpPr>
        <p:spPr>
          <a:xfrm>
            <a:off x="6330336" y="3570477"/>
            <a:ext cx="503743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B0FF"/>
                </a:solidFill>
                <a:latin typeface="JetBrains Mono" pitchFamily="49" charset="0"/>
                <a:ea typeface="JetBrains Mono" pitchFamily="49" charset="-122"/>
                <a:cs typeface="JetBrains Mono" pitchFamily="49" charset="-120"/>
              </a:rPr>
              <a:t>Deploy · GitOps</a:t>
            </a:r>
            <a:endParaRPr lang="en-US" sz="1200" dirty="0"/>
          </a:p>
        </p:txBody>
      </p:sp>
      <p:sp>
        <p:nvSpPr>
          <p:cNvPr id="28" name="Text 22"/>
          <p:cNvSpPr/>
          <p:nvPr/>
        </p:nvSpPr>
        <p:spPr>
          <a:xfrm>
            <a:off x="6330336" y="3834578"/>
            <a:ext cx="5037439" cy="265374"/>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EDEBE4"/>
                </a:solidFill>
                <a:latin typeface="IBM Plex Sans" pitchFamily="34" charset="0"/>
                <a:ea typeface="IBM Plex Sans" pitchFamily="34" charset="-122"/>
                <a:cs typeface="IBM Plex Sans" pitchFamily="34" charset="-120"/>
              </a:rPr>
              <a:t>CI commits the new SHA; Argo CD syncs the cluster</a:t>
            </a:r>
            <a:endParaRPr lang="en-US" sz="1400" dirty="0"/>
          </a:p>
        </p:txBody>
      </p:sp>
      <p:sp>
        <p:nvSpPr>
          <p:cNvPr id="29" name="Shape 23"/>
          <p:cNvSpPr/>
          <p:nvPr/>
        </p:nvSpPr>
        <p:spPr>
          <a:xfrm>
            <a:off x="815957" y="4540673"/>
            <a:ext cx="6830904" cy="1054028"/>
          </a:xfrm>
          <a:prstGeom prst="roundRect">
            <a:avLst>
              <a:gd name="adj" fmla="val 9338"/>
            </a:avLst>
          </a:prstGeom>
          <a:solidFill>
            <a:srgbClr val="1C2F2A"/>
          </a:solidFill>
          <a:ln w="6350">
            <a:solidFill>
              <a:srgbClr val="2F5A4E"/>
            </a:solidFill>
            <a:prstDash val="solid"/>
          </a:ln>
        </p:spPr>
      </p:sp>
      <p:sp>
        <p:nvSpPr>
          <p:cNvPr id="30" name="Text 24"/>
          <p:cNvSpPr/>
          <p:nvPr/>
        </p:nvSpPr>
        <p:spPr>
          <a:xfrm>
            <a:off x="970946" y="4695662"/>
            <a:ext cx="671655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D9BE"/>
                </a:solidFill>
                <a:latin typeface="JetBrains Mono" pitchFamily="49" charset="0"/>
                <a:ea typeface="JetBrains Mono" pitchFamily="49" charset="-122"/>
                <a:cs typeface="JetBrains Mono" pitchFamily="49" charset="-120"/>
              </a:rPr>
              <a:t>Kubernetes · namespace shelfwise</a:t>
            </a:r>
            <a:endParaRPr lang="en-US" sz="1200" dirty="0"/>
          </a:p>
        </p:txBody>
      </p:sp>
      <p:sp>
        <p:nvSpPr>
          <p:cNvPr id="31" name="Text 25"/>
          <p:cNvSpPr/>
          <p:nvPr/>
        </p:nvSpPr>
        <p:spPr>
          <a:xfrm>
            <a:off x="970946" y="4959764"/>
            <a:ext cx="6716555" cy="265374"/>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EDEBE4"/>
                </a:solidFill>
                <a:latin typeface="IBM Plex Sans" pitchFamily="34" charset="0"/>
                <a:ea typeface="IBM Plex Sans" pitchFamily="34" charset="-122"/>
                <a:cs typeface="IBM Plex Sans" pitchFamily="34" charset="-120"/>
              </a:rPr>
              <a:t>Traefik Ingress → nginx ×2 and FastAPI ×2–6 (HPA) → Postgres StatefulSet</a:t>
            </a:r>
            <a:endParaRPr lang="en-US" sz="1400" dirty="0"/>
          </a:p>
        </p:txBody>
      </p:sp>
      <p:sp>
        <p:nvSpPr>
          <p:cNvPr id="32" name="Shape 26"/>
          <p:cNvSpPr/>
          <p:nvPr/>
        </p:nvSpPr>
        <p:spPr>
          <a:xfrm>
            <a:off x="7805602" y="4540673"/>
            <a:ext cx="3570441" cy="1054028"/>
          </a:xfrm>
          <a:prstGeom prst="roundRect">
            <a:avLst>
              <a:gd name="adj" fmla="val 9338"/>
            </a:avLst>
          </a:prstGeom>
          <a:solidFill>
            <a:srgbClr val="1C2F2A"/>
          </a:solidFill>
          <a:ln w="6350">
            <a:solidFill>
              <a:srgbClr val="2F5A4E"/>
            </a:solidFill>
            <a:prstDash val="solid"/>
          </a:ln>
        </p:spPr>
      </p:sp>
      <p:sp>
        <p:nvSpPr>
          <p:cNvPr id="33" name="Text 27"/>
          <p:cNvSpPr/>
          <p:nvPr/>
        </p:nvSpPr>
        <p:spPr>
          <a:xfrm>
            <a:off x="7960591" y="4695662"/>
            <a:ext cx="335827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D9BE"/>
                </a:solidFill>
                <a:latin typeface="JetBrains Mono" pitchFamily="49" charset="0"/>
                <a:ea typeface="JetBrains Mono" pitchFamily="49" charset="-122"/>
                <a:cs typeface="JetBrains Mono" pitchFamily="49" charset="-120"/>
              </a:rPr>
              <a:t>Observability</a:t>
            </a:r>
            <a:endParaRPr lang="en-US" sz="1200" dirty="0"/>
          </a:p>
        </p:txBody>
      </p:sp>
      <p:sp>
        <p:nvSpPr>
          <p:cNvPr id="34" name="Text 28"/>
          <p:cNvSpPr/>
          <p:nvPr/>
        </p:nvSpPr>
        <p:spPr>
          <a:xfrm>
            <a:off x="7960591" y="4959764"/>
            <a:ext cx="3358277" cy="505348"/>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EDEBE4"/>
                </a:solidFill>
                <a:latin typeface="IBM Plex Sans" pitchFamily="34" charset="0"/>
                <a:ea typeface="IBM Plex Sans" pitchFamily="34" charset="-122"/>
                <a:cs typeface="IBM Plex Sans" pitchFamily="34" charset="-120"/>
              </a:rPr>
              <a:t>Prometheus scrapes every 15s → Grafana</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782" y="812781"/>
            <a:ext cx="10883429"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A3560F"/>
                </a:solidFill>
                <a:latin typeface="JetBrains Mono" pitchFamily="49" charset="0"/>
                <a:ea typeface="JetBrains Mono" pitchFamily="49" charset="-122"/>
                <a:cs typeface="JetBrains Mono" pitchFamily="49" charset="-120"/>
              </a:rPr>
              <a:t>M2 · TESTING</a:t>
            </a:r>
            <a:endParaRPr lang="en-US" sz="1200" dirty="0"/>
          </a:p>
        </p:txBody>
      </p:sp>
      <p:sp>
        <p:nvSpPr>
          <p:cNvPr id="3" name="Text 1"/>
          <p:cNvSpPr/>
          <p:nvPr>
            <p:ph type="title"/>
          </p:nvPr>
        </p:nvSpPr>
        <p:spPr>
          <a:xfrm>
            <a:off x="812782" y="1127665"/>
            <a:ext cx="10883429" cy="472426"/>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7202F"/>
                </a:solidFill>
                <a:latin typeface="Space Grotesk" pitchFamily="34" charset="0"/>
                <a:ea typeface="Space Grotesk" pitchFamily="34" charset="-122"/>
                <a:cs typeface="Space Grotesk" pitchFamily="34" charset="-120"/>
              </a:rPr>
              <a:t>A failing test stops the pipeline</a:t>
            </a:r>
            <a:endParaRPr lang="en-US" sz="3200" dirty="0"/>
          </a:p>
        </p:txBody>
      </p:sp>
      <p:sp>
        <p:nvSpPr>
          <p:cNvPr id="4" name="Text 2"/>
          <p:cNvSpPr/>
          <p:nvPr/>
        </p:nvSpPr>
        <p:spPr>
          <a:xfrm>
            <a:off x="812782" y="1879473"/>
            <a:ext cx="1610365" cy="1168400"/>
          </a:xfrm>
          <a:prstGeom prst="rect">
            <a:avLst/>
          </a:prstGeom>
          <a:noFill/>
          <a:ln/>
        </p:spPr>
        <p:txBody>
          <a:bodyPr wrap="square" lIns="0" tIns="0" rIns="0" bIns="0" rtlCol="0" anchor="t">
            <a:normAutofit/>
          </a:bodyPr>
          <a:lstStyle/>
          <a:p>
            <a:pPr algn="l" indent="0" marL="0">
              <a:lnSpc>
                <a:spcPts val="9000"/>
              </a:lnSpc>
              <a:buNone/>
            </a:pPr>
            <a:r>
              <a:rPr lang="en-US" sz="10000" b="1" spc="-300" kern="0" dirty="0">
                <a:solidFill>
                  <a:srgbClr val="2F5BD3"/>
                </a:solidFill>
                <a:latin typeface="Space Grotesk" pitchFamily="34" charset="0"/>
                <a:ea typeface="Space Grotesk" pitchFamily="34" charset="-122"/>
                <a:cs typeface="Space Grotesk" pitchFamily="34" charset="-120"/>
              </a:rPr>
              <a:t>29</a:t>
            </a:r>
            <a:endParaRPr lang="en-US" sz="10000" dirty="0"/>
          </a:p>
        </p:txBody>
      </p:sp>
      <p:sp>
        <p:nvSpPr>
          <p:cNvPr id="5" name="Text 3"/>
          <p:cNvSpPr/>
          <p:nvPr/>
        </p:nvSpPr>
        <p:spPr>
          <a:xfrm>
            <a:off x="2423147" y="2351934"/>
            <a:ext cx="1374333" cy="695938"/>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17202F"/>
                </a:solidFill>
                <a:latin typeface="IBM Plex Sans" pitchFamily="34" charset="0"/>
                <a:ea typeface="IBM Plex Sans" pitchFamily="34" charset="-122"/>
                <a:cs typeface="IBM Plex Sans" pitchFamily="34" charset="-120"/>
              </a:rPr>
              <a:t>tests,</a:t>
            </a:r>
            <a:endParaRPr lang="en-US" sz="2200" dirty="0"/>
          </a:p>
          <a:p>
            <a:pPr algn="l" indent="0" marL="0">
              <a:lnSpc>
                <a:spcPts val="2640"/>
              </a:lnSpc>
              <a:buNone/>
            </a:pPr>
            <a:r>
              <a:rPr lang="en-US" sz="2200" dirty="0">
                <a:solidFill>
                  <a:srgbClr val="17202F"/>
                </a:solidFill>
                <a:latin typeface="IBM Plex Sans" pitchFamily="34" charset="0"/>
                <a:ea typeface="IBM Plex Sans" pitchFamily="34" charset="-122"/>
                <a:cs typeface="IBM Plex Sans" pitchFamily="34" charset="-120"/>
              </a:rPr>
              <a:t>all passing</a:t>
            </a:r>
            <a:endParaRPr lang="en-US" sz="2200" dirty="0"/>
          </a:p>
        </p:txBody>
      </p:sp>
      <p:sp>
        <p:nvSpPr>
          <p:cNvPr id="6" name="Text 4"/>
          <p:cNvSpPr/>
          <p:nvPr/>
        </p:nvSpPr>
        <p:spPr>
          <a:xfrm>
            <a:off x="891014" y="3276473"/>
            <a:ext cx="5192396" cy="1092092"/>
          </a:xfrm>
          <a:prstGeom prst="rect">
            <a:avLst/>
          </a:prstGeom>
          <a:noFill/>
          <a:ln/>
        </p:spPr>
        <p:txBody>
          <a:bodyPr wrap="square" lIns="0" tIns="0" rIns="0" bIns="0" rtlCol="0" anchor="t">
            <a:normAutofit/>
          </a:bodyPr>
          <a:lstStyle/>
          <a:p>
            <a:pPr algn="l" marL="175768" indent="-175768">
              <a:lnSpc>
                <a:spcPts val="2100"/>
              </a:lnSpc>
              <a:buSzPct val="100000"/>
              <a:buChar char="•"/>
            </a:pPr>
            <a:r>
              <a:rPr lang="en-US" sz="1400" dirty="0">
                <a:solidFill>
                  <a:srgbClr val="4A5568"/>
                </a:solidFill>
                <a:latin typeface="IBM Plex Sans" pitchFamily="34" charset="0"/>
                <a:ea typeface="IBM Plex Sans" pitchFamily="34" charset="-122"/>
                <a:cs typeface="IBM Plex Sans" pitchFamily="34" charset="-120"/>
              </a:rPr>
              <a:t>Cover all 11 endpoints and the Alembic migration chain</a:t>
            </a:r>
            <a:endParaRPr lang="en-US" sz="1400" dirty="0"/>
          </a:p>
          <a:p>
            <a:pPr algn="l" marL="175768" indent="-175768">
              <a:lnSpc>
                <a:spcPts val="2100"/>
              </a:lnSpc>
              <a:buSzPct val="100000"/>
              <a:buChar char="•"/>
            </a:pPr>
            <a:r>
              <a:rPr lang="en-US" sz="1400" dirty="0">
                <a:solidFill>
                  <a:srgbClr val="4A5568"/>
                </a:solidFill>
                <a:latin typeface="IBM Plex Sans" pitchFamily="34" charset="0"/>
                <a:ea typeface="IBM Plex Sans" pitchFamily="34" charset="-122"/>
                <a:cs typeface="IBM Plex Sans" pitchFamily="34" charset="-120"/>
              </a:rPr>
              <a:t>In-memory SQLite, never the real database</a:t>
            </a:r>
            <a:endParaRPr lang="en-US" sz="1400" dirty="0"/>
          </a:p>
          <a:p>
            <a:pPr algn="l" marL="175768" indent="-175768">
              <a:lnSpc>
                <a:spcPts val="2100"/>
              </a:lnSpc>
              <a:buSzPct val="100000"/>
              <a:buChar char="•"/>
            </a:pPr>
            <a:r>
              <a:rPr lang="en-US" sz="1400" dirty="0">
                <a:solidFill>
                  <a:srgbClr val="4A5568"/>
                </a:solidFill>
                <a:latin typeface="IBM Plex Sans" pitchFamily="34" charset="0"/>
                <a:ea typeface="IBM Plex Sans" pitchFamily="34" charset="-122"/>
                <a:cs typeface="IBM Plex Sans" pitchFamily="34" charset="-120"/>
              </a:rPr>
              <a:t>ruff lint and format checks gate every push</a:t>
            </a:r>
            <a:endParaRPr lang="en-US" sz="1400" dirty="0"/>
          </a:p>
          <a:p>
            <a:pPr algn="l" marL="175768" indent="-175768">
              <a:lnSpc>
                <a:spcPts val="2100"/>
              </a:lnSpc>
              <a:buSzPct val="100000"/>
              <a:buChar char="•"/>
            </a:pPr>
            <a:r>
              <a:rPr lang="en-US" sz="1400" dirty="0">
                <a:solidFill>
                  <a:srgbClr val="4A5568"/>
                </a:solidFill>
                <a:latin typeface="IBM Plex Sans" pitchFamily="34" charset="0"/>
                <a:ea typeface="IBM Plex Sans" pitchFamily="34" charset="-122"/>
                <a:cs typeface="IBM Plex Sans" pitchFamily="34" charset="-120"/>
              </a:rPr>
              <a:t>Frontend unit tests with node:test</a:t>
            </a:r>
            <a:endParaRPr lang="en-US" sz="1400" dirty="0"/>
          </a:p>
        </p:txBody>
      </p:sp>
      <p:pic>
        <p:nvPicPr>
          <p:cNvPr id="7" name="Image 0" descr="Terminal: pytest -v showing 29 tests passed">    </p:cNvPr>
          <p:cNvPicPr>
            <a:picLocks noChangeAspect="1"/>
          </p:cNvPicPr>
          <p:nvPr/>
        </p:nvPicPr>
        <p:blipFill>
          <a:blip r:embed="rId1"/>
          <a:srcRect l="0" r="0" t="-25" b="-25"/>
          <a:stretch/>
        </p:blipFill>
        <p:spPr>
          <a:xfrm>
            <a:off x="6343686" y="1879473"/>
            <a:ext cx="5035532" cy="3962391"/>
          </a:xfrm>
          <a:prstGeom prst="roundRect">
            <a:avLst>
              <a:gd name="adj" fmla="val 2564"/>
            </a:avLst>
          </a:prstGeom>
          <a:effectLst>
            <a:outerShdw sx="100000" sy="100000" kx="0" ky="0" algn="bl" rotWithShape="0" blurRad="381000" dist="152400" dir="5400000">
              <a:srgbClr val="17202F">
                <a:alpha val="18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782" y="812781"/>
            <a:ext cx="10883429" cy="235879"/>
          </a:xfrm>
          <a:prstGeom prst="rect">
            <a:avLst/>
          </a:prstGeom>
          <a:noFill/>
          <a:ln/>
        </p:spPr>
        <p:txBody>
          <a:bodyPr wrap="square" lIns="0" tIns="0" rIns="0" bIns="0" rtlCol="0" anchor="t">
            <a:normAutofit/>
          </a:bodyPr>
          <a:lstStyle/>
          <a:p>
            <a:pPr algn="l" indent="0" marL="0">
              <a:lnSpc>
                <a:spcPts val="1675"/>
              </a:lnSpc>
              <a:buNone/>
            </a:pPr>
            <a:r>
              <a:rPr lang="en-US" sz="1196" spc="150" kern="0" dirty="0">
                <a:solidFill>
                  <a:srgbClr val="A3560F"/>
                </a:solidFill>
                <a:latin typeface="JetBrains Mono" pitchFamily="49" charset="0"/>
                <a:ea typeface="JetBrains Mono" pitchFamily="49" charset="-122"/>
                <a:cs typeface="JetBrains Mono" pitchFamily="49" charset="-120"/>
              </a:rPr>
              <a:t>M4 · DOCKER</a:t>
            </a:r>
            <a:endParaRPr lang="en-US" sz="1196" dirty="0"/>
          </a:p>
        </p:txBody>
      </p:sp>
      <p:sp>
        <p:nvSpPr>
          <p:cNvPr id="3" name="Text 1"/>
          <p:cNvSpPr/>
          <p:nvPr>
            <p:ph type="title"/>
          </p:nvPr>
        </p:nvSpPr>
        <p:spPr>
          <a:xfrm>
            <a:off x="812782" y="1124824"/>
            <a:ext cx="10883429" cy="466382"/>
          </a:xfrm>
          <a:prstGeom prst="rect">
            <a:avLst/>
          </a:prstGeom>
          <a:noFill/>
          <a:ln/>
        </p:spPr>
        <p:txBody>
          <a:bodyPr wrap="square" lIns="0" tIns="0" rIns="0" bIns="0" rtlCol="0" anchor="t">
            <a:normAutofit/>
          </a:bodyPr>
          <a:lstStyle/>
          <a:p>
            <a:pPr algn="l" indent="0" marL="0">
              <a:lnSpc>
                <a:spcPts val="3465"/>
              </a:lnSpc>
              <a:buNone/>
            </a:pPr>
            <a:r>
              <a:rPr lang="en-US" sz="3150" b="1" i="0" spc="-50" kern="0" dirty="0">
                <a:solidFill>
                  <a:srgbClr val="17202F"/>
                </a:solidFill>
                <a:latin typeface="Space Grotesk" pitchFamily="34" charset="0"/>
                <a:ea typeface="Space Grotesk" pitchFamily="34" charset="-122"/>
                <a:cs typeface="Space Grotesk" pitchFamily="34" charset="-120"/>
              </a:rPr>
              <a:t>The whole stack in one command, nothing as root</a:t>
            </a:r>
            <a:endParaRPr lang="en-US" sz="3150" dirty="0"/>
          </a:p>
        </p:txBody>
      </p:sp>
      <p:sp>
        <p:nvSpPr>
          <p:cNvPr id="4" name="Shape 2"/>
          <p:cNvSpPr/>
          <p:nvPr/>
        </p:nvSpPr>
        <p:spPr>
          <a:xfrm>
            <a:off x="815957" y="1873762"/>
            <a:ext cx="2520932" cy="1214943"/>
          </a:xfrm>
          <a:prstGeom prst="roundRect">
            <a:avLst>
              <a:gd name="adj" fmla="val 8101"/>
            </a:avLst>
          </a:prstGeom>
          <a:solidFill>
            <a:srgbClr val="FBFAF6"/>
          </a:solidFill>
          <a:ln w="6350">
            <a:solidFill>
              <a:srgbClr val="DDD8CB"/>
            </a:solidFill>
            <a:prstDash val="solid"/>
          </a:ln>
        </p:spPr>
      </p:sp>
      <p:sp>
        <p:nvSpPr>
          <p:cNvPr id="5" name="Text 3"/>
          <p:cNvSpPr/>
          <p:nvPr/>
        </p:nvSpPr>
        <p:spPr>
          <a:xfrm>
            <a:off x="996337" y="2054141"/>
            <a:ext cx="2224978" cy="409647"/>
          </a:xfrm>
          <a:prstGeom prst="rect">
            <a:avLst/>
          </a:prstGeom>
          <a:noFill/>
          <a:ln/>
        </p:spPr>
        <p:txBody>
          <a:bodyPr wrap="square" lIns="0" tIns="0" rIns="0" bIns="0" rtlCol="0" anchor="t">
            <a:normAutofit/>
          </a:bodyPr>
          <a:lstStyle/>
          <a:p>
            <a:pPr algn="l" indent="0" marL="0">
              <a:lnSpc>
                <a:spcPts val="3070"/>
              </a:lnSpc>
              <a:buNone/>
            </a:pPr>
            <a:r>
              <a:rPr lang="en-US" sz="2791" b="1" dirty="0">
                <a:solidFill>
                  <a:srgbClr val="2F5BD3"/>
                </a:solidFill>
                <a:latin typeface="Space Grotesk" pitchFamily="34" charset="0"/>
                <a:ea typeface="Space Grotesk" pitchFamily="34" charset="-122"/>
                <a:cs typeface="Space Grotesk" pitchFamily="34" charset="-120"/>
              </a:rPr>
              <a:t>3</a:t>
            </a:r>
            <a:endParaRPr lang="en-US" sz="2791" dirty="0"/>
          </a:p>
        </p:txBody>
      </p:sp>
      <p:sp>
        <p:nvSpPr>
          <p:cNvPr id="6" name="Text 4"/>
          <p:cNvSpPr/>
          <p:nvPr/>
        </p:nvSpPr>
        <p:spPr>
          <a:xfrm>
            <a:off x="996337" y="2489172"/>
            <a:ext cx="2224978" cy="444554"/>
          </a:xfrm>
          <a:prstGeom prst="rect">
            <a:avLst/>
          </a:prstGeom>
          <a:noFill/>
          <a:ln/>
        </p:spPr>
        <p:txBody>
          <a:bodyPr wrap="square" lIns="0" tIns="0" rIns="0" bIns="0" rtlCol="0" anchor="t">
            <a:normAutofit/>
          </a:bodyPr>
          <a:lstStyle/>
          <a:p>
            <a:pPr algn="l" indent="0" marL="0">
              <a:lnSpc>
                <a:spcPts val="1659"/>
              </a:lnSpc>
              <a:buNone/>
            </a:pPr>
            <a:r>
              <a:rPr lang="en-US" sz="1185" dirty="0">
                <a:solidFill>
                  <a:srgbClr val="4A5568"/>
                </a:solidFill>
                <a:latin typeface="IBM Plex Sans" pitchFamily="34" charset="0"/>
                <a:ea typeface="IBM Plex Sans" pitchFamily="34" charset="-122"/>
                <a:cs typeface="IBM Plex Sans" pitchFamily="34" charset="-120"/>
              </a:rPr>
              <a:t>services from docker compose up</a:t>
            </a:r>
            <a:endParaRPr lang="en-US" sz="1185" dirty="0"/>
          </a:p>
        </p:txBody>
      </p:sp>
      <p:sp>
        <p:nvSpPr>
          <p:cNvPr id="7" name="Shape 5"/>
          <p:cNvSpPr/>
          <p:nvPr/>
        </p:nvSpPr>
        <p:spPr>
          <a:xfrm>
            <a:off x="3495630" y="1873762"/>
            <a:ext cx="2520977" cy="1214943"/>
          </a:xfrm>
          <a:prstGeom prst="roundRect">
            <a:avLst>
              <a:gd name="adj" fmla="val 8101"/>
            </a:avLst>
          </a:prstGeom>
          <a:solidFill>
            <a:srgbClr val="FBFAF6"/>
          </a:solidFill>
          <a:ln w="6350">
            <a:solidFill>
              <a:srgbClr val="DDD8CB"/>
            </a:solidFill>
            <a:prstDash val="solid"/>
          </a:ln>
        </p:spPr>
      </p:sp>
      <p:sp>
        <p:nvSpPr>
          <p:cNvPr id="8" name="Text 6"/>
          <p:cNvSpPr/>
          <p:nvPr/>
        </p:nvSpPr>
        <p:spPr>
          <a:xfrm>
            <a:off x="3676009" y="2054141"/>
            <a:ext cx="2225024" cy="409647"/>
          </a:xfrm>
          <a:prstGeom prst="rect">
            <a:avLst/>
          </a:prstGeom>
          <a:noFill/>
          <a:ln/>
        </p:spPr>
        <p:txBody>
          <a:bodyPr wrap="square" lIns="0" tIns="0" rIns="0" bIns="0" rtlCol="0" anchor="t">
            <a:normAutofit/>
          </a:bodyPr>
          <a:lstStyle/>
          <a:p>
            <a:pPr algn="l" indent="0" marL="0">
              <a:lnSpc>
                <a:spcPts val="3070"/>
              </a:lnSpc>
              <a:buNone/>
            </a:pPr>
            <a:r>
              <a:rPr lang="en-US" sz="2791" b="1" dirty="0">
                <a:solidFill>
                  <a:srgbClr val="2F5BD3"/>
                </a:solidFill>
                <a:latin typeface="Space Grotesk" pitchFamily="34" charset="0"/>
                <a:ea typeface="Space Grotesk" pitchFamily="34" charset="-122"/>
                <a:cs typeface="Space Grotesk" pitchFamily="34" charset="-120"/>
              </a:rPr>
              <a:t>2</a:t>
            </a:r>
            <a:endParaRPr lang="en-US" sz="2791" dirty="0"/>
          </a:p>
        </p:txBody>
      </p:sp>
      <p:sp>
        <p:nvSpPr>
          <p:cNvPr id="9" name="Text 7"/>
          <p:cNvSpPr/>
          <p:nvPr/>
        </p:nvSpPr>
        <p:spPr>
          <a:xfrm>
            <a:off x="3676009" y="2489172"/>
            <a:ext cx="2225024" cy="444554"/>
          </a:xfrm>
          <a:prstGeom prst="rect">
            <a:avLst/>
          </a:prstGeom>
          <a:noFill/>
          <a:ln/>
        </p:spPr>
        <p:txBody>
          <a:bodyPr wrap="square" lIns="0" tIns="0" rIns="0" bIns="0" rtlCol="0" anchor="t">
            <a:normAutofit/>
          </a:bodyPr>
          <a:lstStyle/>
          <a:p>
            <a:pPr algn="l" indent="0" marL="0">
              <a:lnSpc>
                <a:spcPts val="1659"/>
              </a:lnSpc>
              <a:buNone/>
            </a:pPr>
            <a:r>
              <a:rPr lang="en-US" sz="1185" dirty="0">
                <a:solidFill>
                  <a:srgbClr val="4A5568"/>
                </a:solidFill>
                <a:latin typeface="IBM Plex Sans" pitchFamily="34" charset="0"/>
                <a:ea typeface="IBM Plex Sans" pitchFamily="34" charset="-122"/>
                <a:cs typeface="IBM Plex Sans" pitchFamily="34" charset="-120"/>
              </a:rPr>
              <a:t>stages: Node build → nginx runtime</a:t>
            </a:r>
            <a:endParaRPr lang="en-US" sz="1185" dirty="0"/>
          </a:p>
        </p:txBody>
      </p:sp>
      <p:sp>
        <p:nvSpPr>
          <p:cNvPr id="10" name="Shape 8"/>
          <p:cNvSpPr/>
          <p:nvPr/>
        </p:nvSpPr>
        <p:spPr>
          <a:xfrm>
            <a:off x="6175348" y="1873762"/>
            <a:ext cx="2520977" cy="1214943"/>
          </a:xfrm>
          <a:prstGeom prst="roundRect">
            <a:avLst>
              <a:gd name="adj" fmla="val 8101"/>
            </a:avLst>
          </a:prstGeom>
          <a:solidFill>
            <a:srgbClr val="FBFAF6"/>
          </a:solidFill>
          <a:ln w="6350">
            <a:solidFill>
              <a:srgbClr val="DDD8CB"/>
            </a:solidFill>
            <a:prstDash val="solid"/>
          </a:ln>
        </p:spPr>
      </p:sp>
      <p:sp>
        <p:nvSpPr>
          <p:cNvPr id="11" name="Text 9"/>
          <p:cNvSpPr/>
          <p:nvPr/>
        </p:nvSpPr>
        <p:spPr>
          <a:xfrm>
            <a:off x="6355728" y="2054141"/>
            <a:ext cx="2225024" cy="416547"/>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2F5BD3"/>
                </a:solidFill>
                <a:latin typeface="Space Grotesk" pitchFamily="34" charset="0"/>
                <a:ea typeface="Space Grotesk" pitchFamily="34" charset="-122"/>
                <a:cs typeface="Space Grotesk" pitchFamily="34" charset="-120"/>
              </a:rPr>
              <a:t>10001</a:t>
            </a:r>
            <a:endParaRPr lang="en-US" sz="2800" dirty="0"/>
          </a:p>
        </p:txBody>
      </p:sp>
      <p:sp>
        <p:nvSpPr>
          <p:cNvPr id="12" name="Text 10"/>
          <p:cNvSpPr/>
          <p:nvPr/>
        </p:nvSpPr>
        <p:spPr>
          <a:xfrm>
            <a:off x="6355728" y="2496071"/>
            <a:ext cx="22250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backend user id, not root</a:t>
            </a:r>
            <a:endParaRPr lang="en-US" sz="1200" dirty="0"/>
          </a:p>
        </p:txBody>
      </p:sp>
      <p:sp>
        <p:nvSpPr>
          <p:cNvPr id="13" name="Shape 11"/>
          <p:cNvSpPr/>
          <p:nvPr/>
        </p:nvSpPr>
        <p:spPr>
          <a:xfrm>
            <a:off x="8855066" y="1873762"/>
            <a:ext cx="2520977" cy="1214943"/>
          </a:xfrm>
          <a:prstGeom prst="roundRect">
            <a:avLst>
              <a:gd name="adj" fmla="val 8101"/>
            </a:avLst>
          </a:prstGeom>
          <a:solidFill>
            <a:srgbClr val="FBFAF6"/>
          </a:solidFill>
          <a:ln w="6350">
            <a:solidFill>
              <a:srgbClr val="DDD8CB"/>
            </a:solidFill>
            <a:prstDash val="solid"/>
          </a:ln>
        </p:spPr>
      </p:sp>
      <p:sp>
        <p:nvSpPr>
          <p:cNvPr id="14" name="Text 12"/>
          <p:cNvSpPr/>
          <p:nvPr/>
        </p:nvSpPr>
        <p:spPr>
          <a:xfrm>
            <a:off x="9035445" y="2054141"/>
            <a:ext cx="2225024" cy="416547"/>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2F5BD3"/>
                </a:solidFill>
                <a:latin typeface="Space Grotesk" pitchFamily="34" charset="0"/>
                <a:ea typeface="Space Grotesk" pitchFamily="34" charset="-122"/>
                <a:cs typeface="Space Grotesk" pitchFamily="34" charset="-120"/>
              </a:rPr>
              <a:t>101</a:t>
            </a:r>
            <a:endParaRPr lang="en-US" sz="2800" dirty="0"/>
          </a:p>
        </p:txBody>
      </p:sp>
      <p:sp>
        <p:nvSpPr>
          <p:cNvPr id="15" name="Text 13"/>
          <p:cNvSpPr/>
          <p:nvPr/>
        </p:nvSpPr>
        <p:spPr>
          <a:xfrm>
            <a:off x="9035445" y="2496071"/>
            <a:ext cx="22250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nginx user id, not root</a:t>
            </a:r>
            <a:endParaRPr lang="en-US" sz="1200" dirty="0"/>
          </a:p>
        </p:txBody>
      </p:sp>
      <p:pic>
        <p:nvPicPr>
          <p:cNvPr id="16" name="Image 0" descr="Terminal: docker compose ps showing postgres, backend and frontend running, and id output showing uid 10001 and uid 101">    </p:cNvPr>
          <p:cNvPicPr>
            <a:picLocks noChangeAspect="1"/>
          </p:cNvPicPr>
          <p:nvPr/>
        </p:nvPicPr>
        <p:blipFill>
          <a:blip r:embed="rId1"/>
          <a:stretch>
            <a:fillRect/>
          </a:stretch>
        </p:blipFill>
        <p:spPr>
          <a:xfrm>
            <a:off x="870923" y="3396661"/>
            <a:ext cx="9408718" cy="2648554"/>
          </a:xfrm>
          <a:custGeom>
            <a:avLst/>
            <a:gdLst/>
            <a:ahLst/>
            <a:cxnLst/>
            <a:rect l="l" t="t" r="r" b="b"/>
            <a:pathLst>
              <a:path w="9408718" h="2648554">
                <a:moveTo>
                  <a:pt x="0" y="9764"/>
                </a:moveTo>
                <a:arcTo wR="101600" hR="101600" stAng="14680516" swAng="1519484"/>
                <a:lnTo>
                  <a:pt x="9365259" y="0"/>
                </a:lnTo>
                <a:arcTo wR="101600" hR="101600" stAng="16200000" swAng="1519484"/>
                <a:lnTo>
                  <a:pt x="9408718" y="2638790"/>
                </a:lnTo>
                <a:arcTo wR="101600" hR="101600" stAng="3880516" swAng="1519484"/>
                <a:lnTo>
                  <a:pt x="43459" y="2648554"/>
                </a:lnTo>
                <a:arcTo wR="101600" hR="101600" stAng="5400000" swAng="1519484"/>
                <a:close/>
              </a:path>
            </a:pathLst>
          </a:custGeom>
          <a:effectLst>
            <a:outerShdw sx="100000" sy="100000" kx="0" ky="0" algn="bl" rotWithShape="0" blurRad="381000" dist="152400" dir="5400000">
              <a:srgbClr val="17202F">
                <a:alpha val="1800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782" y="812781"/>
            <a:ext cx="10883429"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A3560F"/>
                </a:solidFill>
                <a:latin typeface="JetBrains Mono" pitchFamily="49" charset="0"/>
                <a:ea typeface="JetBrains Mono" pitchFamily="49" charset="-122"/>
                <a:cs typeface="JetBrains Mono" pitchFamily="49" charset="-120"/>
              </a:rPr>
              <a:t>M5 · CI/CD</a:t>
            </a:r>
            <a:endParaRPr lang="en-US" sz="1200" dirty="0"/>
          </a:p>
        </p:txBody>
      </p:sp>
      <p:sp>
        <p:nvSpPr>
          <p:cNvPr id="3" name="Text 1"/>
          <p:cNvSpPr/>
          <p:nvPr>
            <p:ph type="title"/>
          </p:nvPr>
        </p:nvSpPr>
        <p:spPr>
          <a:xfrm>
            <a:off x="812782" y="1127665"/>
            <a:ext cx="10883429" cy="472426"/>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7202F"/>
                </a:solidFill>
                <a:latin typeface="Space Grotesk" pitchFamily="34" charset="0"/>
                <a:ea typeface="Space Grotesk" pitchFamily="34" charset="-122"/>
                <a:cs typeface="Space Grotesk" pitchFamily="34" charset="-120"/>
              </a:rPr>
              <a:t>Every image traces back to one commit</a:t>
            </a:r>
            <a:endParaRPr lang="en-US" sz="3200" dirty="0"/>
          </a:p>
        </p:txBody>
      </p:sp>
      <p:pic>
        <p:nvPicPr>
          <p:cNvPr id="4" name="Image 0" descr="GitHub Actions run with every job green">    </p:cNvPr>
          <p:cNvPicPr>
            <a:picLocks noChangeAspect="1"/>
          </p:cNvPicPr>
          <p:nvPr/>
        </p:nvPicPr>
        <p:blipFill>
          <a:blip r:embed="rId1"/>
          <a:srcRect l="-14" r="-14" t="0" b="0"/>
          <a:stretch/>
        </p:blipFill>
        <p:spPr>
          <a:xfrm>
            <a:off x="812782" y="1879473"/>
            <a:ext cx="5130782" cy="3562314"/>
          </a:xfrm>
          <a:prstGeom prst="roundRect">
            <a:avLst>
              <a:gd name="adj" fmla="val 2852"/>
            </a:avLst>
          </a:prstGeom>
          <a:effectLst>
            <a:outerShdw sx="100000" sy="100000" kx="0" ky="0" algn="bl" rotWithShape="0" blurRad="381000" dist="152400" dir="5400000">
              <a:srgbClr val="17202F">
                <a:alpha val="18000"/>
              </a:srgbClr>
            </a:outerShdw>
          </a:effectLst>
        </p:spPr>
      </p:pic>
      <p:sp>
        <p:nvSpPr>
          <p:cNvPr id="5" name="Text 2"/>
          <p:cNvSpPr/>
          <p:nvPr/>
        </p:nvSpPr>
        <p:spPr>
          <a:xfrm>
            <a:off x="812782" y="5568786"/>
            <a:ext cx="5284752" cy="256535"/>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5568"/>
                </a:solidFill>
                <a:latin typeface="IBM Plex Sans" pitchFamily="34" charset="0"/>
                <a:ea typeface="IBM Plex Sans" pitchFamily="34" charset="-122"/>
                <a:cs typeface="IBM Plex Sans" pitchFamily="34" charset="-120"/>
              </a:rPr>
              <a:t>Green run:</a:t>
            </a:r>
            <a:r>
              <a:rPr lang="en-US" sz="1300" dirty="0">
                <a:solidFill>
                  <a:srgbClr val="4A5568"/>
                </a:solidFill>
                <a:latin typeface="IBM Plex Sans" pitchFamily="34" charset="0"/>
                <a:ea typeface="IBM Plex Sans" pitchFamily="34" charset="-122"/>
                <a:cs typeface="IBM Plex Sans" pitchFamily="34" charset="-120"/>
              </a:rPr>
              <a:t> test → build → scan → push → deploy</a:t>
            </a:r>
            <a:endParaRPr lang="en-US" sz="1300" dirty="0"/>
          </a:p>
        </p:txBody>
      </p:sp>
      <p:pic>
        <p:nvPicPr>
          <p:cNvPr id="6" name="Image 1" descr="GHCR package page for shelfwise-backend showing a commit SHA tag">    </p:cNvPr>
          <p:cNvPicPr>
            <a:picLocks noChangeAspect="1"/>
          </p:cNvPicPr>
          <p:nvPr/>
        </p:nvPicPr>
        <p:blipFill>
          <a:blip r:embed="rId2"/>
          <a:srcRect l="-14" r="-14" t="0" b="0"/>
          <a:stretch/>
        </p:blipFill>
        <p:spPr>
          <a:xfrm>
            <a:off x="6248391" y="1879473"/>
            <a:ext cx="5130782" cy="3562314"/>
          </a:xfrm>
          <a:prstGeom prst="roundRect">
            <a:avLst>
              <a:gd name="adj" fmla="val 2852"/>
            </a:avLst>
          </a:prstGeom>
          <a:effectLst>
            <a:outerShdw sx="100000" sy="100000" kx="0" ky="0" algn="bl" rotWithShape="0" blurRad="381000" dist="152400" dir="5400000">
              <a:srgbClr val="17202F">
                <a:alpha val="18000"/>
              </a:srgbClr>
            </a:outerShdw>
          </a:effectLst>
        </p:spPr>
      </p:pic>
      <p:sp>
        <p:nvSpPr>
          <p:cNvPr id="7" name="Text 3"/>
          <p:cNvSpPr/>
          <p:nvPr/>
        </p:nvSpPr>
        <p:spPr>
          <a:xfrm>
            <a:off x="6248391" y="5568786"/>
            <a:ext cx="5284752" cy="256535"/>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5568"/>
                </a:solidFill>
                <a:latin typeface="IBM Plex Sans" pitchFamily="34" charset="0"/>
                <a:ea typeface="IBM Plex Sans" pitchFamily="34" charset="-122"/>
                <a:cs typeface="IBM Plex Sans" pitchFamily="34" charset="-120"/>
              </a:rPr>
              <a:t>GHCR:</a:t>
            </a:r>
            <a:r>
              <a:rPr lang="en-US" sz="1300" dirty="0">
                <a:solidFill>
                  <a:srgbClr val="4A5568"/>
                </a:solidFill>
                <a:latin typeface="IBM Plex Sans" pitchFamily="34" charset="0"/>
                <a:ea typeface="IBM Plex Sans" pitchFamily="34" charset="-122"/>
                <a:cs typeface="IBM Plex Sans" pitchFamily="34" charset="-120"/>
              </a:rPr>
              <a:t> tagged with the full commit SHA, never latest</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782" y="812784"/>
            <a:ext cx="10883429"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A3560F"/>
                </a:solidFill>
                <a:latin typeface="JetBrains Mono" pitchFamily="49" charset="0"/>
                <a:ea typeface="JetBrains Mono" pitchFamily="49" charset="-122"/>
                <a:cs typeface="JetBrains Mono" pitchFamily="49" charset="-120"/>
              </a:rPr>
              <a:t>M6 · SECURITY GATE</a:t>
            </a:r>
            <a:endParaRPr lang="en-US" sz="1200" dirty="0"/>
          </a:p>
        </p:txBody>
      </p:sp>
      <p:sp>
        <p:nvSpPr>
          <p:cNvPr id="3" name="Text 1"/>
          <p:cNvSpPr/>
          <p:nvPr>
            <p:ph type="title"/>
          </p:nvPr>
        </p:nvSpPr>
        <p:spPr>
          <a:xfrm>
            <a:off x="812782" y="1127668"/>
            <a:ext cx="10883429" cy="472426"/>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7202F"/>
                </a:solidFill>
                <a:latin typeface="Space Grotesk" pitchFamily="34" charset="0"/>
                <a:ea typeface="Space Grotesk" pitchFamily="34" charset="-122"/>
                <a:cs typeface="Space Grotesk" pitchFamily="34" charset="-120"/>
              </a:rPr>
              <a:t>Trivy blocks the push on any fixable HIGH or CRITICAL</a:t>
            </a:r>
            <a:endParaRPr lang="en-US" sz="3200" dirty="0"/>
          </a:p>
        </p:txBody>
      </p:sp>
      <p:sp>
        <p:nvSpPr>
          <p:cNvPr id="4" name="Text 2"/>
          <p:cNvSpPr/>
          <p:nvPr/>
        </p:nvSpPr>
        <p:spPr>
          <a:xfrm>
            <a:off x="812782" y="1879476"/>
            <a:ext cx="2448538" cy="314884"/>
          </a:xfrm>
          <a:prstGeom prst="roundRect">
            <a:avLst>
              <a:gd name="adj" fmla="val 50000"/>
            </a:avLst>
          </a:prstGeom>
          <a:solidFill>
            <a:srgbClr val="F6DCD3"/>
          </a:solidFill>
          <a:ln/>
        </p:spPr>
        <p:txBody>
          <a:bodyPr wrap="none" lIns="0" tIns="0" rIns="0" bIns="0" rtlCol="0" anchor="ctr">
            <a:normAutofit/>
          </a:bodyPr>
          <a:lstStyle/>
          <a:p>
            <a:pPr algn="ctr" indent="0" marL="0">
              <a:lnSpc>
                <a:spcPts val="1680"/>
              </a:lnSpc>
              <a:buNone/>
            </a:pPr>
            <a:r>
              <a:rPr lang="en-US" sz="1200" b="1" dirty="0">
                <a:solidFill>
                  <a:srgbClr val="8A2A12"/>
                </a:solidFill>
                <a:latin typeface="JetBrains Mono" pitchFamily="49" charset="0"/>
                <a:ea typeface="JetBrains Mono" pitchFamily="49" charset="-122"/>
                <a:cs typeface="JetBrains Mono" pitchFamily="49" charset="-120"/>
              </a:rPr>
              <a:t>Before · 4 HIGH · exit 1</a:t>
            </a:r>
            <a:endParaRPr lang="en-US" sz="1200" dirty="0"/>
          </a:p>
        </p:txBody>
      </p:sp>
      <p:pic>
        <p:nvPicPr>
          <p:cNvPr id="5" name="Image 0" descr="Trivy report: 4 HIGH findings in msgpack, setuptools and urllib3, exit code 1">    </p:cNvPr>
          <p:cNvPicPr>
            <a:picLocks noChangeAspect="1"/>
          </p:cNvPicPr>
          <p:nvPr/>
        </p:nvPicPr>
        <p:blipFill>
          <a:blip r:embed="rId1"/>
          <a:srcRect l="0" r="0" t="-41" b="-41"/>
          <a:stretch/>
        </p:blipFill>
        <p:spPr>
          <a:xfrm>
            <a:off x="812782" y="2295922"/>
            <a:ext cx="5130782" cy="2012923"/>
          </a:xfrm>
          <a:prstGeom prst="roundRect">
            <a:avLst>
              <a:gd name="adj" fmla="val 5047"/>
            </a:avLst>
          </a:prstGeom>
          <a:effectLst>
            <a:outerShdw sx="100000" sy="100000" kx="0" ky="0" algn="bl" rotWithShape="0" blurRad="381000" dist="152400" dir="5400000">
              <a:srgbClr val="17202F">
                <a:alpha val="18000"/>
              </a:srgbClr>
            </a:outerShdw>
          </a:effectLst>
        </p:spPr>
      </p:pic>
      <p:sp>
        <p:nvSpPr>
          <p:cNvPr id="6" name="Text 3"/>
          <p:cNvSpPr/>
          <p:nvPr/>
        </p:nvSpPr>
        <p:spPr>
          <a:xfrm>
            <a:off x="6248391" y="1879476"/>
            <a:ext cx="2722878" cy="314884"/>
          </a:xfrm>
          <a:prstGeom prst="roundRect">
            <a:avLst>
              <a:gd name="adj" fmla="val 50000"/>
            </a:avLst>
          </a:prstGeom>
          <a:solidFill>
            <a:srgbClr val="D6EBDF"/>
          </a:solidFill>
          <a:ln/>
        </p:spPr>
        <p:txBody>
          <a:bodyPr wrap="none" lIns="0" tIns="0" rIns="0" bIns="0" rtlCol="0" anchor="ctr">
            <a:normAutofit/>
          </a:bodyPr>
          <a:lstStyle/>
          <a:p>
            <a:pPr algn="ctr" indent="0" marL="0">
              <a:lnSpc>
                <a:spcPts val="1680"/>
              </a:lnSpc>
              <a:buNone/>
            </a:pPr>
            <a:r>
              <a:rPr lang="en-US" sz="1200" b="1" dirty="0">
                <a:solidFill>
                  <a:srgbClr val="1F5B3E"/>
                </a:solidFill>
                <a:latin typeface="JetBrains Mono" pitchFamily="49" charset="0"/>
                <a:ea typeface="JetBrains Mono" pitchFamily="49" charset="-122"/>
                <a:cs typeface="JetBrains Mono" pitchFamily="49" charset="-120"/>
              </a:rPr>
              <a:t>After · 0 findings · exit 0</a:t>
            </a:r>
            <a:endParaRPr lang="en-US" sz="1200" dirty="0"/>
          </a:p>
        </p:txBody>
      </p:sp>
      <p:pic>
        <p:nvPicPr>
          <p:cNvPr id="7" name="Image 1" descr="Trivy report for both images: 0 vulnerabilities, exit code 0">    </p:cNvPr>
          <p:cNvPicPr>
            <a:picLocks noChangeAspect="1"/>
          </p:cNvPicPr>
          <p:nvPr/>
        </p:nvPicPr>
        <p:blipFill>
          <a:blip r:embed="rId2"/>
          <a:stretch>
            <a:fillRect/>
          </a:stretch>
        </p:blipFill>
        <p:spPr>
          <a:xfrm>
            <a:off x="6248391" y="2381408"/>
            <a:ext cx="5130782" cy="1841951"/>
          </a:xfrm>
          <a:custGeom>
            <a:avLst/>
            <a:gdLst/>
            <a:ahLst/>
            <a:cxnLst/>
            <a:rect l="l" t="t" r="r" b="b"/>
            <a:pathLst>
              <a:path w="5130782" h="1841951">
                <a:moveTo>
                  <a:pt x="0" y="16114"/>
                </a:moveTo>
                <a:arcTo wR="101600" hR="101600" stAng="10800000" swAng="547543"/>
                <a:lnTo>
                  <a:pt x="5129496" y="0"/>
                </a:lnTo>
                <a:arcTo wR="101600" hR="101600" stAng="21052457" swAng="547543"/>
                <a:lnTo>
                  <a:pt x="5130782" y="1825837"/>
                </a:lnTo>
                <a:arcTo wR="101600" hR="101600" stAng="0" swAng="547543"/>
                <a:lnTo>
                  <a:pt x="1286" y="1841951"/>
                </a:lnTo>
                <a:arcTo wR="101600" hR="101600" stAng="10252457" swAng="547543"/>
                <a:close/>
              </a:path>
            </a:pathLst>
          </a:custGeom>
          <a:effectLst>
            <a:outerShdw sx="100000" sy="100000" kx="0" ky="0" algn="bl" rotWithShape="0" blurRad="381000" dist="152400" dir="5400000">
              <a:srgbClr val="17202F">
                <a:alpha val="18000"/>
              </a:srgbClr>
            </a:outerShdw>
          </a:effectLst>
        </p:spPr>
      </p:pic>
      <p:sp>
        <p:nvSpPr>
          <p:cNvPr id="8" name="Text 4"/>
          <p:cNvSpPr/>
          <p:nvPr/>
        </p:nvSpPr>
        <p:spPr>
          <a:xfrm>
            <a:off x="812782" y="4613625"/>
            <a:ext cx="5284752" cy="2692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02F"/>
                </a:solidFill>
                <a:latin typeface="Space Grotesk" pitchFamily="34" charset="0"/>
                <a:ea typeface="Space Grotesk" pitchFamily="34" charset="-122"/>
                <a:cs typeface="Space Grotesk" pitchFamily="34" charset="-120"/>
              </a:rPr>
              <a:t>The cause</a:t>
            </a:r>
            <a:endParaRPr lang="en-US" sz="1600" dirty="0"/>
          </a:p>
        </p:txBody>
      </p:sp>
      <p:sp>
        <p:nvSpPr>
          <p:cNvPr id="9" name="Text 5"/>
          <p:cNvSpPr/>
          <p:nvPr/>
        </p:nvSpPr>
        <p:spPr>
          <a:xfrm>
            <a:off x="812782" y="4908262"/>
            <a:ext cx="5284752" cy="48766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All four came from copies of urllib3, msgpack and setuptools vendored inside pip, not from the app’s own dependencies.</a:t>
            </a:r>
            <a:endParaRPr lang="en-US" sz="1300" dirty="0"/>
          </a:p>
        </p:txBody>
      </p:sp>
      <p:sp>
        <p:nvSpPr>
          <p:cNvPr id="10" name="Text 6"/>
          <p:cNvSpPr/>
          <p:nvPr/>
        </p:nvSpPr>
        <p:spPr>
          <a:xfrm>
            <a:off x="6248391" y="4613625"/>
            <a:ext cx="5284752" cy="2692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02F"/>
                </a:solidFill>
                <a:latin typeface="Space Grotesk" pitchFamily="34" charset="0"/>
                <a:ea typeface="Space Grotesk" pitchFamily="34" charset="-122"/>
                <a:cs typeface="Space Grotesk" pitchFamily="34" charset="-120"/>
              </a:rPr>
              <a:t>The fix</a:t>
            </a:r>
            <a:endParaRPr lang="en-US" sz="1600" dirty="0"/>
          </a:p>
        </p:txBody>
      </p:sp>
      <p:sp>
        <p:nvSpPr>
          <p:cNvPr id="11" name="Text 7"/>
          <p:cNvSpPr/>
          <p:nvPr/>
        </p:nvSpPr>
        <p:spPr>
          <a:xfrm>
            <a:off x="6248391" y="4908262"/>
            <a:ext cx="5284752" cy="48766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The running API never needs pip, so it is removed from the runtime image. Both images now scan clean.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B04F"/>
        </a:solidFill>
      </p:bgPr>
    </p:bg>
    <p:spTree>
      <p:nvGrpSpPr>
        <p:cNvPr id="1" name=""/>
        <p:cNvGrpSpPr/>
        <p:nvPr/>
      </p:nvGrpSpPr>
      <p:grpSpPr>
        <a:xfrm>
          <a:off x="0" y="0"/>
          <a:ext cx="0" cy="0"/>
          <a:chOff x="0" y="0"/>
          <a:chExt cx="0" cy="0"/>
        </a:xfrm>
      </p:grpSpPr>
      <p:sp>
        <p:nvSpPr>
          <p:cNvPr id="2" name="Text 0"/>
          <p:cNvSpPr/>
          <p:nvPr/>
        </p:nvSpPr>
        <p:spPr>
          <a:xfrm>
            <a:off x="812782" y="1629488"/>
            <a:ext cx="10883429"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3A2A12"/>
                </a:solidFill>
                <a:latin typeface="JetBrains Mono" pitchFamily="49" charset="0"/>
                <a:ea typeface="JetBrains Mono" pitchFamily="49" charset="-122"/>
                <a:cs typeface="JetBrains Mono" pitchFamily="49" charset="-120"/>
              </a:rPr>
              <a:t>SUPPLY CHAIN</a:t>
            </a:r>
            <a:endParaRPr lang="en-US" sz="1200" dirty="0"/>
          </a:p>
        </p:txBody>
      </p:sp>
      <p:sp>
        <p:nvSpPr>
          <p:cNvPr id="3" name="Text 1"/>
          <p:cNvSpPr/>
          <p:nvPr>
            <p:ph type="title"/>
          </p:nvPr>
        </p:nvSpPr>
        <p:spPr>
          <a:xfrm>
            <a:off x="812782" y="2147590"/>
            <a:ext cx="10883429" cy="1305502"/>
          </a:xfrm>
          <a:prstGeom prst="rect">
            <a:avLst/>
          </a:prstGeom>
          <a:noFill/>
          <a:ln/>
        </p:spPr>
        <p:txBody>
          <a:bodyPr wrap="square" lIns="0" tIns="0" rIns="0" bIns="0" rtlCol="0" anchor="t">
            <a:normAutofit/>
          </a:bodyPr>
          <a:lstStyle/>
          <a:p>
            <a:pPr algn="l" indent="0" marL="0">
              <a:lnSpc>
                <a:spcPts val="5040"/>
              </a:lnSpc>
              <a:buNone/>
            </a:pPr>
            <a:r>
              <a:rPr lang="en-US" sz="4800" b="1" i="0" spc="-100" kern="0" dirty="0">
                <a:solidFill>
                  <a:srgbClr val="17202F"/>
                </a:solidFill>
                <a:latin typeface="Space Grotesk" pitchFamily="34" charset="0"/>
                <a:ea typeface="Space Grotesk" pitchFamily="34" charset="-122"/>
                <a:cs typeface="Space Grotesk" pitchFamily="34" charset="-120"/>
              </a:rPr>
              <a:t>Tags can move.</a:t>
            </a:r>
            <a:endParaRPr lang="en-US" sz="4800" dirty="0"/>
          </a:p>
          <a:p>
            <a:pPr algn="l" indent="0" marL="0">
              <a:lnSpc>
                <a:spcPts val="5040"/>
              </a:lnSpc>
              <a:buNone/>
            </a:pPr>
            <a:r>
              <a:rPr lang="en-US" sz="4800" b="1" i="0" spc="-100" kern="0" dirty="0">
                <a:solidFill>
                  <a:srgbClr val="17202F"/>
                </a:solidFill>
                <a:latin typeface="Space Grotesk" pitchFamily="34" charset="0"/>
                <a:ea typeface="Space Grotesk" pitchFamily="34" charset="-122"/>
                <a:cs typeface="Space Grotesk" pitchFamily="34" charset="-120"/>
              </a:rPr>
              <a:t>Commit SHAs can’t.</a:t>
            </a:r>
            <a:endParaRPr lang="en-US" sz="4800" dirty="0"/>
          </a:p>
        </p:txBody>
      </p:sp>
      <p:sp>
        <p:nvSpPr>
          <p:cNvPr id="4" name="Text 2"/>
          <p:cNvSpPr/>
          <p:nvPr/>
        </p:nvSpPr>
        <p:spPr>
          <a:xfrm>
            <a:off x="812782" y="3732473"/>
            <a:ext cx="9156700" cy="985477"/>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2A2416"/>
                </a:solidFill>
                <a:latin typeface="IBM Plex Sans" pitchFamily="34" charset="0"/>
                <a:ea typeface="IBM Plex Sans" pitchFamily="34" charset="-122"/>
                <a:cs typeface="IBM Plex Sans" pitchFamily="34" charset="-120"/>
              </a:rPr>
              <a:t>Every third-party GitHub Action is pinned to a full commit SHA. In March 2026 attackers force-pushed almost every aquasecurity/trivy-action tag to a commit that stole CI secrets (CVE-2026-33634).</a:t>
            </a:r>
            <a:endParaRPr lang="en-US" sz="1800" dirty="0"/>
          </a:p>
        </p:txBody>
      </p:sp>
      <p:sp>
        <p:nvSpPr>
          <p:cNvPr id="5" name="Text 3"/>
          <p:cNvSpPr/>
          <p:nvPr/>
        </p:nvSpPr>
        <p:spPr>
          <a:xfrm>
            <a:off x="812782" y="4997332"/>
            <a:ext cx="10883429" cy="25653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2A12"/>
                </a:solidFill>
                <a:latin typeface="JetBrains Mono" pitchFamily="49" charset="0"/>
                <a:ea typeface="JetBrains Mono" pitchFamily="49" charset="-122"/>
                <a:cs typeface="JetBrains Mono" pitchFamily="49" charset="-120"/>
              </a:rPr>
              <a:t>uses: aquasecurity/trivy-action@&lt;40-char SHA&gt; # v0.36.0</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782" y="812781"/>
            <a:ext cx="10883429"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A3560F"/>
                </a:solidFill>
                <a:latin typeface="JetBrains Mono" pitchFamily="49" charset="0"/>
                <a:ea typeface="JetBrains Mono" pitchFamily="49" charset="-122"/>
                <a:cs typeface="JetBrains Mono" pitchFamily="49" charset="-120"/>
              </a:rPr>
              <a:t>M7 · TERRAFORM ON AWS</a:t>
            </a:r>
            <a:endParaRPr lang="en-US" sz="1200" dirty="0"/>
          </a:p>
        </p:txBody>
      </p:sp>
      <p:sp>
        <p:nvSpPr>
          <p:cNvPr id="3" name="Text 1"/>
          <p:cNvSpPr/>
          <p:nvPr>
            <p:ph type="title"/>
          </p:nvPr>
        </p:nvSpPr>
        <p:spPr>
          <a:xfrm>
            <a:off x="812782" y="1127665"/>
            <a:ext cx="10883429" cy="472426"/>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7202F"/>
                </a:solidFill>
                <a:latin typeface="Space Grotesk" pitchFamily="34" charset="0"/>
                <a:ea typeface="Space Grotesk" pitchFamily="34" charset="-122"/>
                <a:cs typeface="Space Grotesk" pitchFamily="34" charset="-120"/>
              </a:rPr>
              <a:t>A real VPC and EKS cluster, built and torn down</a:t>
            </a:r>
            <a:endParaRPr lang="en-US" sz="3200" dirty="0"/>
          </a:p>
        </p:txBody>
      </p:sp>
      <p:sp>
        <p:nvSpPr>
          <p:cNvPr id="4" name="Shape 2"/>
          <p:cNvSpPr/>
          <p:nvPr/>
        </p:nvSpPr>
        <p:spPr>
          <a:xfrm>
            <a:off x="815957" y="1882645"/>
            <a:ext cx="3022618" cy="1127765"/>
          </a:xfrm>
          <a:prstGeom prst="roundRect">
            <a:avLst>
              <a:gd name="adj" fmla="val 8727"/>
            </a:avLst>
          </a:prstGeom>
          <a:solidFill>
            <a:srgbClr val="FBFAF6"/>
          </a:solidFill>
          <a:ln w="6350">
            <a:solidFill>
              <a:srgbClr val="DDD8CB"/>
            </a:solidFill>
            <a:prstDash val="solid"/>
          </a:ln>
        </p:spPr>
      </p:sp>
      <p:sp>
        <p:nvSpPr>
          <p:cNvPr id="5" name="Text 3"/>
          <p:cNvSpPr/>
          <p:nvPr/>
        </p:nvSpPr>
        <p:spPr>
          <a:xfrm>
            <a:off x="996337" y="2063024"/>
            <a:ext cx="2741714" cy="528304"/>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2F5BD3"/>
                </a:solidFill>
                <a:latin typeface="Space Grotesk" pitchFamily="34" charset="0"/>
                <a:ea typeface="Space Grotesk" pitchFamily="34" charset="-122"/>
                <a:cs typeface="Space Grotesk" pitchFamily="34" charset="-120"/>
              </a:rPr>
              <a:t>57</a:t>
            </a:r>
            <a:endParaRPr lang="en-US" sz="3600" dirty="0"/>
          </a:p>
        </p:txBody>
      </p:sp>
      <p:sp>
        <p:nvSpPr>
          <p:cNvPr id="6" name="Text 4"/>
          <p:cNvSpPr/>
          <p:nvPr/>
        </p:nvSpPr>
        <p:spPr>
          <a:xfrm>
            <a:off x="996337" y="2616715"/>
            <a:ext cx="274171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resources in the plan</a:t>
            </a:r>
            <a:endParaRPr lang="en-US" sz="1200" dirty="0"/>
          </a:p>
        </p:txBody>
      </p:sp>
      <p:sp>
        <p:nvSpPr>
          <p:cNvPr id="7" name="Shape 5"/>
          <p:cNvSpPr/>
          <p:nvPr/>
        </p:nvSpPr>
        <p:spPr>
          <a:xfrm>
            <a:off x="3997316" y="1882645"/>
            <a:ext cx="3022663" cy="1127765"/>
          </a:xfrm>
          <a:prstGeom prst="roundRect">
            <a:avLst>
              <a:gd name="adj" fmla="val 8727"/>
            </a:avLst>
          </a:prstGeom>
          <a:solidFill>
            <a:srgbClr val="FBFAF6"/>
          </a:solidFill>
          <a:ln w="6350">
            <a:solidFill>
              <a:srgbClr val="DDD8CB"/>
            </a:solidFill>
            <a:prstDash val="solid"/>
          </a:ln>
        </p:spPr>
      </p:sp>
      <p:sp>
        <p:nvSpPr>
          <p:cNvPr id="8" name="Text 6"/>
          <p:cNvSpPr/>
          <p:nvPr/>
        </p:nvSpPr>
        <p:spPr>
          <a:xfrm>
            <a:off x="4177695" y="2063024"/>
            <a:ext cx="2741761" cy="528304"/>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2F5BD3"/>
                </a:solidFill>
                <a:latin typeface="Space Grotesk" pitchFamily="34" charset="0"/>
                <a:ea typeface="Space Grotesk" pitchFamily="34" charset="-122"/>
                <a:cs typeface="Space Grotesk" pitchFamily="34" charset="-120"/>
              </a:rPr>
              <a:t>2 + 2</a:t>
            </a:r>
            <a:endParaRPr lang="en-US" sz="3600" dirty="0"/>
          </a:p>
        </p:txBody>
      </p:sp>
      <p:sp>
        <p:nvSpPr>
          <p:cNvPr id="9" name="Text 7"/>
          <p:cNvSpPr/>
          <p:nvPr/>
        </p:nvSpPr>
        <p:spPr>
          <a:xfrm>
            <a:off x="4177695" y="2616715"/>
            <a:ext cx="27417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public + private subnets</a:t>
            </a:r>
            <a:endParaRPr lang="en-US" sz="1200" dirty="0"/>
          </a:p>
        </p:txBody>
      </p:sp>
      <p:sp>
        <p:nvSpPr>
          <p:cNvPr id="10" name="Shape 8"/>
          <p:cNvSpPr/>
          <p:nvPr/>
        </p:nvSpPr>
        <p:spPr>
          <a:xfrm>
            <a:off x="815957" y="3169152"/>
            <a:ext cx="3022618" cy="1127765"/>
          </a:xfrm>
          <a:prstGeom prst="roundRect">
            <a:avLst>
              <a:gd name="adj" fmla="val 8727"/>
            </a:avLst>
          </a:prstGeom>
          <a:solidFill>
            <a:srgbClr val="FBFAF6"/>
          </a:solidFill>
          <a:ln w="6350">
            <a:solidFill>
              <a:srgbClr val="DDD8CB"/>
            </a:solidFill>
            <a:prstDash val="solid"/>
          </a:ln>
        </p:spPr>
      </p:sp>
      <p:sp>
        <p:nvSpPr>
          <p:cNvPr id="11" name="Text 9"/>
          <p:cNvSpPr/>
          <p:nvPr/>
        </p:nvSpPr>
        <p:spPr>
          <a:xfrm>
            <a:off x="996337" y="3349532"/>
            <a:ext cx="2741714" cy="528304"/>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2F5BD3"/>
                </a:solidFill>
                <a:latin typeface="Space Grotesk" pitchFamily="34" charset="0"/>
                <a:ea typeface="Space Grotesk" pitchFamily="34" charset="-122"/>
                <a:cs typeface="Space Grotesk" pitchFamily="34" charset="-120"/>
              </a:rPr>
              <a:t>56</a:t>
            </a:r>
            <a:endParaRPr lang="en-US" sz="3600" dirty="0"/>
          </a:p>
        </p:txBody>
      </p:sp>
      <p:sp>
        <p:nvSpPr>
          <p:cNvPr id="12" name="Text 10"/>
          <p:cNvSpPr/>
          <p:nvPr/>
        </p:nvSpPr>
        <p:spPr>
          <a:xfrm>
            <a:off x="996337" y="3903216"/>
            <a:ext cx="274171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destroyed, nothing left running</a:t>
            </a:r>
            <a:endParaRPr lang="en-US" sz="1200" dirty="0"/>
          </a:p>
        </p:txBody>
      </p:sp>
      <p:sp>
        <p:nvSpPr>
          <p:cNvPr id="13" name="Shape 11"/>
          <p:cNvSpPr/>
          <p:nvPr/>
        </p:nvSpPr>
        <p:spPr>
          <a:xfrm>
            <a:off x="3997316" y="3169152"/>
            <a:ext cx="3022663" cy="1127765"/>
          </a:xfrm>
          <a:prstGeom prst="roundRect">
            <a:avLst>
              <a:gd name="adj" fmla="val 8727"/>
            </a:avLst>
          </a:prstGeom>
          <a:solidFill>
            <a:srgbClr val="FBFAF6"/>
          </a:solidFill>
          <a:ln w="6350">
            <a:solidFill>
              <a:srgbClr val="DDD8CB"/>
            </a:solidFill>
            <a:prstDash val="solid"/>
          </a:ln>
        </p:spPr>
      </p:sp>
      <p:sp>
        <p:nvSpPr>
          <p:cNvPr id="14" name="Text 12"/>
          <p:cNvSpPr/>
          <p:nvPr/>
        </p:nvSpPr>
        <p:spPr>
          <a:xfrm>
            <a:off x="4177695" y="3349532"/>
            <a:ext cx="2741761" cy="528304"/>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2F5BD3"/>
                </a:solidFill>
                <a:latin typeface="Space Grotesk" pitchFamily="34" charset="0"/>
                <a:ea typeface="Space Grotesk" pitchFamily="34" charset="-122"/>
                <a:cs typeface="Space Grotesk" pitchFamily="34" charset="-120"/>
              </a:rPr>
              <a:t>&lt; $1</a:t>
            </a:r>
            <a:endParaRPr lang="en-US" sz="3600" dirty="0"/>
          </a:p>
        </p:txBody>
      </p:sp>
      <p:sp>
        <p:nvSpPr>
          <p:cNvPr id="15" name="Text 13"/>
          <p:cNvSpPr/>
          <p:nvPr/>
        </p:nvSpPr>
        <p:spPr>
          <a:xfrm>
            <a:off x="4177695" y="3903216"/>
            <a:ext cx="27417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total cost of the run</a:t>
            </a:r>
            <a:endParaRPr lang="en-US" sz="1200" dirty="0"/>
          </a:p>
        </p:txBody>
      </p:sp>
      <p:sp>
        <p:nvSpPr>
          <p:cNvPr id="16" name="Shape 14"/>
          <p:cNvSpPr/>
          <p:nvPr/>
        </p:nvSpPr>
        <p:spPr>
          <a:xfrm>
            <a:off x="812782" y="4452485"/>
            <a:ext cx="6210372" cy="1081935"/>
          </a:xfrm>
          <a:prstGeom prst="roundRect">
            <a:avLst>
              <a:gd name="adj" fmla="val 9391"/>
            </a:avLst>
          </a:prstGeom>
          <a:solidFill>
            <a:srgbClr val="17202F"/>
          </a:solidFill>
          <a:ln/>
        </p:spPr>
      </p:sp>
      <p:sp>
        <p:nvSpPr>
          <p:cNvPr id="17" name="Text 15"/>
          <p:cNvSpPr/>
          <p:nvPr/>
        </p:nvSpPr>
        <p:spPr>
          <a:xfrm>
            <a:off x="990564" y="4630266"/>
            <a:ext cx="603045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0B04F"/>
                </a:solidFill>
                <a:latin typeface="JetBrains Mono" pitchFamily="49" charset="0"/>
                <a:ea typeface="JetBrains Mono" pitchFamily="49" charset="-122"/>
                <a:cs typeface="JetBrains Mono" pitchFamily="49" charset="-120"/>
              </a:rPr>
              <a:t>Free-plan AWS account</a:t>
            </a:r>
            <a:endParaRPr lang="en-US" sz="1200" dirty="0"/>
          </a:p>
        </p:txBody>
      </p:sp>
      <p:sp>
        <p:nvSpPr>
          <p:cNvPr id="18" name="Text 16"/>
          <p:cNvSpPr/>
          <p:nvPr/>
        </p:nvSpPr>
        <p:spPr>
          <a:xfrm>
            <a:off x="990564" y="4894368"/>
            <a:ext cx="6030452" cy="48766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DEBE4"/>
                </a:solidFill>
                <a:latin typeface="IBM Plex Sans" pitchFamily="34" charset="0"/>
                <a:ea typeface="IBM Plex Sans" pitchFamily="34" charset="-122"/>
                <a:cs typeface="IBM Plex Sans" pitchFamily="34" charset="-120"/>
              </a:rPr>
              <a:t>One region (ap-southeast-2), Free Tier nodes (c7i-flex.large), and Pod Identity instead of IRSA.</a:t>
            </a:r>
            <a:endParaRPr lang="en-US" sz="1300" dirty="0"/>
          </a:p>
        </p:txBody>
      </p:sp>
      <p:pic>
        <p:nvPicPr>
          <p:cNvPr id="19" name="Image 0" descr="terraform plan output ending in Plan: 57 to add, 0 to change, 0 to destroy">    </p:cNvPr>
          <p:cNvPicPr>
            <a:picLocks noChangeAspect="1"/>
          </p:cNvPicPr>
          <p:nvPr/>
        </p:nvPicPr>
        <p:blipFill>
          <a:blip r:embed="rId1"/>
          <a:srcRect l="0" r="0" t="-17" b="-17"/>
          <a:stretch/>
        </p:blipFill>
        <p:spPr>
          <a:xfrm>
            <a:off x="7429545" y="1879470"/>
            <a:ext cx="3949673" cy="4165564"/>
          </a:xfrm>
          <a:prstGeom prst="roundRect">
            <a:avLst>
              <a:gd name="adj" fmla="val 2572"/>
            </a:avLst>
          </a:prstGeom>
          <a:effectLst>
            <a:outerShdw sx="100000" sy="100000" kx="0" ky="0" algn="bl" rotWithShape="0" blurRad="381000" dist="152400" dir="5400000">
              <a:srgbClr val="17202F">
                <a:alpha val="18000"/>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526"/>
        </a:solidFill>
      </p:bgPr>
    </p:bg>
    <p:spTree>
      <p:nvGrpSpPr>
        <p:cNvPr id="1" name=""/>
        <p:cNvGrpSpPr/>
        <p:nvPr/>
      </p:nvGrpSpPr>
      <p:grpSpPr>
        <a:xfrm>
          <a:off x="0" y="0"/>
          <a:ext cx="0" cy="0"/>
          <a:chOff x="0" y="0"/>
          <a:chExt cx="0" cy="0"/>
        </a:xfrm>
      </p:grpSpPr>
      <p:sp>
        <p:nvSpPr>
          <p:cNvPr id="2" name="Text 0"/>
          <p:cNvSpPr/>
          <p:nvPr/>
        </p:nvSpPr>
        <p:spPr>
          <a:xfrm>
            <a:off x="812782" y="812781"/>
            <a:ext cx="10883429" cy="228212"/>
          </a:xfrm>
          <a:prstGeom prst="rect">
            <a:avLst/>
          </a:prstGeom>
          <a:noFill/>
          <a:ln/>
        </p:spPr>
        <p:txBody>
          <a:bodyPr wrap="square" lIns="0" tIns="0" rIns="0" bIns="0" rtlCol="0" anchor="t">
            <a:normAutofit/>
          </a:bodyPr>
          <a:lstStyle/>
          <a:p>
            <a:pPr algn="l" indent="0" marL="0">
              <a:lnSpc>
                <a:spcPts val="1622"/>
              </a:lnSpc>
              <a:buNone/>
            </a:pPr>
            <a:r>
              <a:rPr lang="en-US" sz="1159" spc="150" kern="0" dirty="0">
                <a:solidFill>
                  <a:srgbClr val="F0B04F"/>
                </a:solidFill>
                <a:latin typeface="JetBrains Mono" pitchFamily="49" charset="0"/>
                <a:ea typeface="JetBrains Mono" pitchFamily="49" charset="-122"/>
                <a:cs typeface="JetBrains Mono" pitchFamily="49" charset="-120"/>
              </a:rPr>
              <a:t>M7 · EVIDENCE IN THE AWS CONSOLE</a:t>
            </a:r>
            <a:endParaRPr lang="en-US" sz="1159" dirty="0"/>
          </a:p>
        </p:txBody>
      </p:sp>
      <p:sp>
        <p:nvSpPr>
          <p:cNvPr id="3" name="Text 1"/>
          <p:cNvSpPr/>
          <p:nvPr>
            <p:ph type="title"/>
          </p:nvPr>
        </p:nvSpPr>
        <p:spPr>
          <a:xfrm>
            <a:off x="812782" y="1117154"/>
            <a:ext cx="10883429" cy="450417"/>
          </a:xfrm>
          <a:prstGeom prst="rect">
            <a:avLst/>
          </a:prstGeom>
          <a:noFill/>
          <a:ln/>
        </p:spPr>
        <p:txBody>
          <a:bodyPr wrap="square" lIns="0" tIns="0" rIns="0" bIns="0" rtlCol="0" anchor="t">
            <a:normAutofit/>
          </a:bodyPr>
          <a:lstStyle/>
          <a:p>
            <a:pPr algn="l" indent="0" marL="0">
              <a:lnSpc>
                <a:spcPts val="3366"/>
              </a:lnSpc>
              <a:buNone/>
            </a:pPr>
            <a:r>
              <a:rPr lang="en-US" sz="3060" b="1" i="0" spc="-50" kern="0" dirty="0">
                <a:solidFill>
                  <a:srgbClr val="F7F5EF"/>
                </a:solidFill>
                <a:latin typeface="Space Grotesk" pitchFamily="34" charset="0"/>
                <a:ea typeface="Space Grotesk" pitchFamily="34" charset="-122"/>
                <a:cs typeface="Space Grotesk" pitchFamily="34" charset="-120"/>
              </a:rPr>
              <a:t>EKS cluster active, nodes ready, VPC in place</a:t>
            </a:r>
            <a:endParaRPr lang="en-US" sz="3060" dirty="0"/>
          </a:p>
        </p:txBody>
      </p:sp>
      <p:pic>
        <p:nvPicPr>
          <p:cNvPr id="4" name="Image 0" descr="AWS console: EKS cluster overview showing status Active">    </p:cNvPr>
          <p:cNvPicPr>
            <a:picLocks noChangeAspect="1"/>
          </p:cNvPicPr>
          <p:nvPr/>
        </p:nvPicPr>
        <p:blipFill>
          <a:blip r:embed="rId1"/>
          <a:srcRect l="-107" r="-107" t="0" b="0"/>
          <a:stretch/>
        </p:blipFill>
        <p:spPr>
          <a:xfrm>
            <a:off x="819132" y="1853307"/>
            <a:ext cx="6438864" cy="3257550"/>
          </a:xfrm>
          <a:prstGeom prst="roundRect">
            <a:avLst>
              <a:gd name="adj" fmla="val 2924"/>
            </a:avLst>
          </a:prstGeom>
        </p:spPr>
      </p:pic>
      <p:sp>
        <p:nvSpPr>
          <p:cNvPr id="5" name="Shape 2"/>
          <p:cNvSpPr/>
          <p:nvPr/>
        </p:nvSpPr>
        <p:spPr>
          <a:xfrm>
            <a:off x="815957" y="1850132"/>
            <a:ext cx="6445214" cy="3263900"/>
          </a:xfrm>
          <a:prstGeom prst="roundRect">
            <a:avLst>
              <a:gd name="adj" fmla="val 3016"/>
            </a:avLst>
          </a:prstGeom>
          <a:noFill/>
          <a:ln w="6350">
            <a:solidFill>
              <a:srgbClr val="2B3A5C"/>
            </a:solidFill>
            <a:prstDash val="solid"/>
          </a:ln>
        </p:spPr>
      </p:sp>
      <p:sp>
        <p:nvSpPr>
          <p:cNvPr id="6" name="Text 3"/>
          <p:cNvSpPr/>
          <p:nvPr/>
        </p:nvSpPr>
        <p:spPr>
          <a:xfrm>
            <a:off x="812782" y="5218770"/>
            <a:ext cx="66451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C6"/>
                </a:solidFill>
                <a:latin typeface="JetBrains Mono" pitchFamily="49" charset="0"/>
                <a:ea typeface="JetBrains Mono" pitchFamily="49" charset="-122"/>
                <a:cs typeface="JetBrains Mono" pitchFamily="49" charset="-120"/>
              </a:rPr>
              <a:t>EKS cluster · Active · ap-southeast-2</a:t>
            </a:r>
            <a:endParaRPr lang="en-US" sz="1200" dirty="0"/>
          </a:p>
        </p:txBody>
      </p:sp>
      <p:pic>
        <p:nvPicPr>
          <p:cNvPr id="7" name="Image 1" descr="AWS console: EKS compute tab with the managed node group">    </p:cNvPr>
          <p:cNvPicPr>
            <a:picLocks noChangeAspect="1"/>
          </p:cNvPicPr>
          <p:nvPr/>
        </p:nvPicPr>
        <p:blipFill>
          <a:blip r:embed="rId2"/>
          <a:srcRect l="-151" r="-151" t="0" b="0"/>
          <a:stretch/>
        </p:blipFill>
        <p:spPr>
          <a:xfrm>
            <a:off x="7575478" y="1853307"/>
            <a:ext cx="3797300" cy="1898614"/>
          </a:xfrm>
          <a:prstGeom prst="roundRect">
            <a:avLst>
              <a:gd name="adj" fmla="val 5017"/>
            </a:avLst>
          </a:prstGeom>
        </p:spPr>
      </p:pic>
      <p:sp>
        <p:nvSpPr>
          <p:cNvPr id="8" name="Shape 4"/>
          <p:cNvSpPr/>
          <p:nvPr/>
        </p:nvSpPr>
        <p:spPr>
          <a:xfrm>
            <a:off x="7572303" y="1850132"/>
            <a:ext cx="3803650" cy="1904964"/>
          </a:xfrm>
          <a:prstGeom prst="roundRect">
            <a:avLst>
              <a:gd name="adj" fmla="val 5167"/>
            </a:avLst>
          </a:prstGeom>
          <a:noFill/>
          <a:ln w="6350">
            <a:solidFill>
              <a:srgbClr val="2B3A5C"/>
            </a:solidFill>
            <a:prstDash val="solid"/>
          </a:ln>
        </p:spPr>
      </p:sp>
      <p:sp>
        <p:nvSpPr>
          <p:cNvPr id="9" name="Text 5"/>
          <p:cNvSpPr/>
          <p:nvPr/>
        </p:nvSpPr>
        <p:spPr>
          <a:xfrm>
            <a:off x="7569128" y="3859833"/>
            <a:ext cx="39243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C6"/>
                </a:solidFill>
                <a:latin typeface="JetBrains Mono" pitchFamily="49" charset="0"/>
                <a:ea typeface="JetBrains Mono" pitchFamily="49" charset="-122"/>
                <a:cs typeface="JetBrains Mono" pitchFamily="49" charset="-120"/>
              </a:rPr>
              <a:t>Managed node group</a:t>
            </a:r>
            <a:endParaRPr lang="en-US" sz="1200" dirty="0"/>
          </a:p>
        </p:txBody>
      </p:sp>
      <p:pic>
        <p:nvPicPr>
          <p:cNvPr id="10" name="Image 2" descr="AWS console: VPC details">    </p:cNvPr>
          <p:cNvPicPr>
            <a:picLocks noChangeAspect="1"/>
          </p:cNvPicPr>
          <p:nvPr/>
        </p:nvPicPr>
        <p:blipFill>
          <a:blip r:embed="rId3"/>
          <a:srcRect l="-190" r="-190" t="0" b="0"/>
          <a:stretch/>
        </p:blipFill>
        <p:spPr>
          <a:xfrm>
            <a:off x="7575478" y="4181066"/>
            <a:ext cx="3797300" cy="2044691"/>
          </a:xfrm>
          <a:prstGeom prst="roundRect">
            <a:avLst>
              <a:gd name="adj" fmla="val 4658"/>
            </a:avLst>
          </a:prstGeom>
        </p:spPr>
      </p:pic>
      <p:sp>
        <p:nvSpPr>
          <p:cNvPr id="11" name="Shape 6"/>
          <p:cNvSpPr/>
          <p:nvPr/>
        </p:nvSpPr>
        <p:spPr>
          <a:xfrm>
            <a:off x="7572303" y="4177891"/>
            <a:ext cx="3803650" cy="2051041"/>
          </a:xfrm>
          <a:prstGeom prst="roundRect">
            <a:avLst>
              <a:gd name="adj" fmla="val 4799"/>
            </a:avLst>
          </a:prstGeom>
          <a:noFill/>
          <a:ln w="6350">
            <a:solidFill>
              <a:srgbClr val="2B3A5C"/>
            </a:solidFill>
            <a:prstDash val="solid"/>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782" y="812781"/>
            <a:ext cx="10883429"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A3560F"/>
                </a:solidFill>
                <a:latin typeface="JetBrains Mono" pitchFamily="49" charset="0"/>
                <a:ea typeface="JetBrains Mono" pitchFamily="49" charset="-122"/>
                <a:cs typeface="JetBrains Mono" pitchFamily="49" charset="-120"/>
              </a:rPr>
              <a:t>M8 · KUBERNETES + HELM</a:t>
            </a:r>
            <a:endParaRPr lang="en-US" sz="1200" dirty="0"/>
          </a:p>
        </p:txBody>
      </p:sp>
      <p:sp>
        <p:nvSpPr>
          <p:cNvPr id="3" name="Text 1"/>
          <p:cNvSpPr/>
          <p:nvPr>
            <p:ph type="title"/>
          </p:nvPr>
        </p:nvSpPr>
        <p:spPr>
          <a:xfrm>
            <a:off x="812782" y="1127665"/>
            <a:ext cx="10883429" cy="472426"/>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7202F"/>
                </a:solidFill>
                <a:latin typeface="Space Grotesk" pitchFamily="34" charset="0"/>
                <a:ea typeface="Space Grotesk" pitchFamily="34" charset="-122"/>
                <a:cs typeface="Space Grotesk" pitchFamily="34" charset="-120"/>
              </a:rPr>
              <a:t>One Helm chart, from kind to EKS</a:t>
            </a:r>
            <a:endParaRPr lang="en-US" sz="3200" dirty="0"/>
          </a:p>
        </p:txBody>
      </p:sp>
      <p:pic>
        <p:nvPicPr>
          <p:cNvPr id="4" name="Image 0" descr="Terminal: kubectl get pods, svc, ingress, hpa and helm list in the shelfwise namespace, all pods Running">    </p:cNvPr>
          <p:cNvPicPr>
            <a:picLocks noChangeAspect="1"/>
          </p:cNvPicPr>
          <p:nvPr/>
        </p:nvPicPr>
        <p:blipFill>
          <a:blip r:embed="rId1"/>
          <a:srcRect l="0" r="0" t="-40" b="-40"/>
          <a:stretch/>
        </p:blipFill>
        <p:spPr>
          <a:xfrm>
            <a:off x="812782" y="1879470"/>
            <a:ext cx="6350000" cy="3994141"/>
          </a:xfrm>
          <a:prstGeom prst="roundRect">
            <a:avLst>
              <a:gd name="adj" fmla="val 2544"/>
            </a:avLst>
          </a:prstGeom>
          <a:effectLst>
            <a:outerShdw sx="100000" sy="100000" kx="0" ky="0" algn="bl" rotWithShape="0" blurRad="381000" dist="152400" dir="5400000">
              <a:srgbClr val="17202F">
                <a:alpha val="18000"/>
              </a:srgbClr>
            </a:outerShdw>
          </a:effectLst>
        </p:spPr>
      </p:pic>
      <p:sp>
        <p:nvSpPr>
          <p:cNvPr id="5" name="Text 2"/>
          <p:cNvSpPr/>
          <p:nvPr/>
        </p:nvSpPr>
        <p:spPr>
          <a:xfrm>
            <a:off x="7569173" y="1879470"/>
            <a:ext cx="3924346" cy="253964"/>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7202F"/>
                </a:solidFill>
                <a:latin typeface="Space Grotesk" pitchFamily="34" charset="0"/>
                <a:ea typeface="Space Grotesk" pitchFamily="34" charset="-122"/>
                <a:cs typeface="Space Grotesk" pitchFamily="34" charset="-120"/>
              </a:rPr>
              <a:t>Ingress (Traefik)</a:t>
            </a:r>
            <a:endParaRPr lang="en-US" sz="1500" dirty="0"/>
          </a:p>
        </p:txBody>
      </p:sp>
      <p:sp>
        <p:nvSpPr>
          <p:cNvPr id="6" name="Text 3"/>
          <p:cNvSpPr/>
          <p:nvPr/>
        </p:nvSpPr>
        <p:spPr>
          <a:xfrm>
            <a:off x="7569173" y="2133426"/>
            <a:ext cx="39243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 → frontend, /api and /docs → backend</a:t>
            </a:r>
            <a:endParaRPr lang="en-US" sz="1200" dirty="0"/>
          </a:p>
        </p:txBody>
      </p:sp>
      <p:sp>
        <p:nvSpPr>
          <p:cNvPr id="7" name="Text 4"/>
          <p:cNvSpPr/>
          <p:nvPr/>
        </p:nvSpPr>
        <p:spPr>
          <a:xfrm>
            <a:off x="7569173" y="2524528"/>
            <a:ext cx="3924346" cy="253964"/>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7202F"/>
                </a:solidFill>
                <a:latin typeface="Space Grotesk" pitchFamily="34" charset="0"/>
                <a:ea typeface="Space Grotesk" pitchFamily="34" charset="-122"/>
                <a:cs typeface="Space Grotesk" pitchFamily="34" charset="-120"/>
              </a:rPr>
              <a:t>Replicas + PDBs</a:t>
            </a:r>
            <a:endParaRPr lang="en-US" sz="1500" dirty="0"/>
          </a:p>
        </p:txBody>
      </p:sp>
      <p:sp>
        <p:nvSpPr>
          <p:cNvPr id="8" name="Text 5"/>
          <p:cNvSpPr/>
          <p:nvPr/>
        </p:nvSpPr>
        <p:spPr>
          <a:xfrm>
            <a:off x="7569173" y="2778485"/>
            <a:ext cx="39243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2 of each; backend scales 2–6 with the HPA</a:t>
            </a:r>
            <a:endParaRPr lang="en-US" sz="1200" dirty="0"/>
          </a:p>
        </p:txBody>
      </p:sp>
      <p:sp>
        <p:nvSpPr>
          <p:cNvPr id="9" name="Text 6"/>
          <p:cNvSpPr/>
          <p:nvPr/>
        </p:nvSpPr>
        <p:spPr>
          <a:xfrm>
            <a:off x="7569173" y="3169586"/>
            <a:ext cx="3924346" cy="253964"/>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7202F"/>
                </a:solidFill>
                <a:latin typeface="Space Grotesk" pitchFamily="34" charset="0"/>
                <a:ea typeface="Space Grotesk" pitchFamily="34" charset="-122"/>
                <a:cs typeface="Space Grotesk" pitchFamily="34" charset="-120"/>
              </a:rPr>
              <a:t>Postgres StatefulSet</a:t>
            </a:r>
            <a:endParaRPr lang="en-US" sz="1500" dirty="0"/>
          </a:p>
        </p:txBody>
      </p:sp>
      <p:sp>
        <p:nvSpPr>
          <p:cNvPr id="10" name="Text 7"/>
          <p:cNvSpPr/>
          <p:nvPr/>
        </p:nvSpPr>
        <p:spPr>
          <a:xfrm>
            <a:off x="7569173" y="3423543"/>
            <a:ext cx="39243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PVC-backed; password generated on install</a:t>
            </a:r>
            <a:endParaRPr lang="en-US" sz="1200" dirty="0"/>
          </a:p>
        </p:txBody>
      </p:sp>
      <p:sp>
        <p:nvSpPr>
          <p:cNvPr id="11" name="Text 8"/>
          <p:cNvSpPr/>
          <p:nvPr/>
        </p:nvSpPr>
        <p:spPr>
          <a:xfrm>
            <a:off x="7569173" y="3814645"/>
            <a:ext cx="3924346" cy="253964"/>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7202F"/>
                </a:solidFill>
                <a:latin typeface="Space Grotesk" pitchFamily="34" charset="0"/>
                <a:ea typeface="Space Grotesk" pitchFamily="34" charset="-122"/>
                <a:cs typeface="Space Grotesk" pitchFamily="34" charset="-120"/>
              </a:rPr>
              <a:t>/health and /ready</a:t>
            </a:r>
            <a:endParaRPr lang="en-US" sz="1500" dirty="0"/>
          </a:p>
        </p:txBody>
      </p:sp>
      <p:sp>
        <p:nvSpPr>
          <p:cNvPr id="12" name="Text 9"/>
          <p:cNvSpPr/>
          <p:nvPr/>
        </p:nvSpPr>
        <p:spPr>
          <a:xfrm>
            <a:off x="7569173" y="4068595"/>
            <a:ext cx="39243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Liveness restarts; readiness only pulls the pod</a:t>
            </a:r>
            <a:endParaRPr lang="en-US" sz="1200" dirty="0"/>
          </a:p>
        </p:txBody>
      </p:sp>
      <p:sp>
        <p:nvSpPr>
          <p:cNvPr id="13" name="Text 10"/>
          <p:cNvSpPr/>
          <p:nvPr/>
        </p:nvSpPr>
        <p:spPr>
          <a:xfrm>
            <a:off x="7569173" y="4459697"/>
            <a:ext cx="39243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JetBrains Mono" pitchFamily="49" charset="0"/>
                <a:ea typeface="JetBrains Mono" pitchFamily="49" charset="-122"/>
                <a:cs typeface="JetBrains Mono" pitchFamily="49" charset="-120"/>
              </a:rPr>
              <a:t>shelfwise.localtest.me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1526"/>
        </a:solidFill>
      </p:bgPr>
    </p:bg>
    <p:spTree>
      <p:nvGrpSpPr>
        <p:cNvPr id="1" name=""/>
        <p:cNvGrpSpPr/>
        <p:nvPr/>
      </p:nvGrpSpPr>
      <p:grpSpPr>
        <a:xfrm>
          <a:off x="0" y="0"/>
          <a:ext cx="0" cy="0"/>
          <a:chOff x="0" y="0"/>
          <a:chExt cx="0" cy="0"/>
        </a:xfrm>
      </p:grpSpPr>
      <p:sp>
        <p:nvSpPr>
          <p:cNvPr id="2" name="Text 0"/>
          <p:cNvSpPr/>
          <p:nvPr/>
        </p:nvSpPr>
        <p:spPr>
          <a:xfrm>
            <a:off x="812782" y="812781"/>
            <a:ext cx="10883429"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F0B04F"/>
                </a:solidFill>
                <a:latin typeface="JetBrains Mono" pitchFamily="49" charset="0"/>
                <a:ea typeface="JetBrains Mono" pitchFamily="49" charset="-122"/>
                <a:cs typeface="JetBrains Mono" pitchFamily="49" charset="-120"/>
              </a:rPr>
              <a:t>M8 · AUTOSCALING</a:t>
            </a:r>
            <a:endParaRPr lang="en-US" sz="1200" dirty="0"/>
          </a:p>
        </p:txBody>
      </p:sp>
      <p:sp>
        <p:nvSpPr>
          <p:cNvPr id="3" name="Text 1"/>
          <p:cNvSpPr/>
          <p:nvPr>
            <p:ph type="title"/>
          </p:nvPr>
        </p:nvSpPr>
        <p:spPr>
          <a:xfrm>
            <a:off x="812782" y="1127665"/>
            <a:ext cx="10883429" cy="472426"/>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F7F5EF"/>
                </a:solidFill>
                <a:latin typeface="Space Grotesk" pitchFamily="34" charset="0"/>
                <a:ea typeface="Space Grotesk" pitchFamily="34" charset="-122"/>
                <a:cs typeface="Space Grotesk" pitchFamily="34" charset="-120"/>
              </a:rPr>
              <a:t>Under load, the backend scales itself</a:t>
            </a:r>
            <a:endParaRPr lang="en-US" sz="3200" dirty="0"/>
          </a:p>
        </p:txBody>
      </p:sp>
      <p:sp>
        <p:nvSpPr>
          <p:cNvPr id="4" name="Text 2"/>
          <p:cNvSpPr/>
          <p:nvPr/>
        </p:nvSpPr>
        <p:spPr>
          <a:xfrm>
            <a:off x="812782" y="2565431"/>
            <a:ext cx="3662680" cy="787400"/>
          </a:xfrm>
          <a:prstGeom prst="rect">
            <a:avLst/>
          </a:prstGeom>
          <a:noFill/>
          <a:ln/>
        </p:spPr>
        <p:txBody>
          <a:bodyPr wrap="square" lIns="0" tIns="0" rIns="0" bIns="0" rtlCol="0" anchor="t">
            <a:normAutofit/>
          </a:bodyPr>
          <a:lstStyle/>
          <a:p>
            <a:pPr algn="l" indent="0" marL="0">
              <a:lnSpc>
                <a:spcPts val="6000"/>
              </a:lnSpc>
              <a:buNone/>
            </a:pPr>
            <a:r>
              <a:rPr lang="en-US" sz="6000" b="1" spc="-150" kern="0" dirty="0">
                <a:solidFill>
                  <a:srgbClr val="F0B04F"/>
                </a:solidFill>
                <a:latin typeface="Space Grotesk" pitchFamily="34" charset="0"/>
                <a:ea typeface="Space Grotesk" pitchFamily="34" charset="-122"/>
                <a:cs typeface="Space Grotesk" pitchFamily="34" charset="-120"/>
              </a:rPr>
              <a:t>2 → 6</a:t>
            </a:r>
            <a:endParaRPr lang="en-US" sz="6000" dirty="0"/>
          </a:p>
        </p:txBody>
      </p:sp>
      <p:sp>
        <p:nvSpPr>
          <p:cNvPr id="5" name="Text 3"/>
          <p:cNvSpPr/>
          <p:nvPr/>
        </p:nvSpPr>
        <p:spPr>
          <a:xfrm>
            <a:off x="812782" y="3352825"/>
            <a:ext cx="3662680" cy="27425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4C6"/>
                </a:solidFill>
                <a:latin typeface="IBM Plex Sans" pitchFamily="34" charset="0"/>
                <a:ea typeface="IBM Plex Sans" pitchFamily="34" charset="-122"/>
                <a:cs typeface="IBM Plex Sans" pitchFamily="34" charset="-120"/>
              </a:rPr>
              <a:t>backend replicas</a:t>
            </a:r>
            <a:endParaRPr lang="en-US" sz="1400" dirty="0"/>
          </a:p>
        </p:txBody>
      </p:sp>
      <p:sp>
        <p:nvSpPr>
          <p:cNvPr id="6" name="Text 4"/>
          <p:cNvSpPr/>
          <p:nvPr/>
        </p:nvSpPr>
        <p:spPr>
          <a:xfrm>
            <a:off x="812782" y="3855684"/>
            <a:ext cx="3662680" cy="787400"/>
          </a:xfrm>
          <a:prstGeom prst="rect">
            <a:avLst/>
          </a:prstGeom>
          <a:noFill/>
          <a:ln/>
        </p:spPr>
        <p:txBody>
          <a:bodyPr wrap="square" lIns="0" tIns="0" rIns="0" bIns="0" rtlCol="0" anchor="t">
            <a:normAutofit/>
          </a:bodyPr>
          <a:lstStyle/>
          <a:p>
            <a:pPr algn="l" indent="0" marL="0">
              <a:lnSpc>
                <a:spcPts val="6000"/>
              </a:lnSpc>
              <a:buNone/>
            </a:pPr>
            <a:r>
              <a:rPr lang="en-US" sz="6000" b="1" spc="-150" kern="0" dirty="0">
                <a:solidFill>
                  <a:srgbClr val="8FB0FF"/>
                </a:solidFill>
                <a:latin typeface="Space Grotesk" pitchFamily="34" charset="0"/>
                <a:ea typeface="Space Grotesk" pitchFamily="34" charset="-122"/>
                <a:cs typeface="Space Grotesk" pitchFamily="34" charset="-120"/>
              </a:rPr>
              <a:t>449%</a:t>
            </a:r>
            <a:endParaRPr lang="en-US" sz="6000" dirty="0"/>
          </a:p>
        </p:txBody>
      </p:sp>
      <p:sp>
        <p:nvSpPr>
          <p:cNvPr id="7" name="Text 5"/>
          <p:cNvSpPr/>
          <p:nvPr/>
        </p:nvSpPr>
        <p:spPr>
          <a:xfrm>
            <a:off x="812782" y="4643072"/>
            <a:ext cx="3662680" cy="27425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4C6"/>
                </a:solidFill>
                <a:latin typeface="IBM Plex Sans" pitchFamily="34" charset="0"/>
                <a:ea typeface="IBM Plex Sans" pitchFamily="34" charset="-122"/>
                <a:cs typeface="IBM Plex Sans" pitchFamily="34" charset="-120"/>
              </a:rPr>
              <a:t>CPU at peak, up from 4% idle</a:t>
            </a:r>
            <a:endParaRPr lang="en-US" sz="1400" dirty="0"/>
          </a:p>
        </p:txBody>
      </p:sp>
      <p:sp>
        <p:nvSpPr>
          <p:cNvPr id="8" name="Text 6"/>
          <p:cNvSpPr/>
          <p:nvPr/>
        </p:nvSpPr>
        <p:spPr>
          <a:xfrm>
            <a:off x="812782" y="5145931"/>
            <a:ext cx="36626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C6"/>
                </a:solidFill>
                <a:latin typeface="JetBrains Mono" pitchFamily="49" charset="0"/>
                <a:ea typeface="JetBrains Mono" pitchFamily="49" charset="-122"/>
                <a:cs typeface="JetBrains Mono" pitchFamily="49" charset="-120"/>
              </a:rPr>
              <a:t>./scripts/load-test.sh 180</a:t>
            </a:r>
            <a:endParaRPr lang="en-US" sz="1200" dirty="0"/>
          </a:p>
        </p:txBody>
      </p:sp>
      <p:pic>
        <p:nvPicPr>
          <p:cNvPr id="9" name="Image 0" descr="Terminal: kubectl get hpa watch output showing CPU rising from 4% to 449% and replicas from 2 to 6">    </p:cNvPr>
          <p:cNvPicPr>
            <a:picLocks noChangeAspect="1"/>
          </p:cNvPicPr>
          <p:nvPr/>
        </p:nvPicPr>
        <p:blipFill>
          <a:blip r:embed="rId1"/>
          <a:srcRect l="-162" r="-162" t="0" b="0"/>
          <a:stretch/>
        </p:blipFill>
        <p:spPr>
          <a:xfrm>
            <a:off x="4781523" y="2587569"/>
            <a:ext cx="6591300" cy="2749550"/>
          </a:xfrm>
          <a:prstGeom prst="roundRect">
            <a:avLst>
              <a:gd name="adj" fmla="val 3464"/>
            </a:avLst>
          </a:prstGeom>
        </p:spPr>
      </p:pic>
      <p:sp>
        <p:nvSpPr>
          <p:cNvPr id="10" name="Shape 7"/>
          <p:cNvSpPr/>
          <p:nvPr/>
        </p:nvSpPr>
        <p:spPr>
          <a:xfrm>
            <a:off x="4778348" y="2584394"/>
            <a:ext cx="6597650" cy="2755900"/>
          </a:xfrm>
          <a:prstGeom prst="roundRect">
            <a:avLst>
              <a:gd name="adj" fmla="val 3571"/>
            </a:avLst>
          </a:prstGeom>
          <a:noFill/>
          <a:ln w="6350">
            <a:solidFill>
              <a:srgbClr val="2B3A5C"/>
            </a:solidFill>
            <a:prstDash val="solid"/>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782" y="812788"/>
            <a:ext cx="10883429"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A3560F"/>
                </a:solidFill>
                <a:latin typeface="JetBrains Mono" pitchFamily="49" charset="0"/>
                <a:ea typeface="JetBrains Mono" pitchFamily="49" charset="-122"/>
                <a:cs typeface="JetBrains Mono" pitchFamily="49" charset="-120"/>
              </a:rPr>
              <a:t>M9 · OBSERVABILITY</a:t>
            </a:r>
            <a:endParaRPr lang="en-US" sz="1200" dirty="0"/>
          </a:p>
        </p:txBody>
      </p:sp>
      <p:sp>
        <p:nvSpPr>
          <p:cNvPr id="3" name="Text 1"/>
          <p:cNvSpPr/>
          <p:nvPr>
            <p:ph type="title"/>
          </p:nvPr>
        </p:nvSpPr>
        <p:spPr>
          <a:xfrm>
            <a:off x="812782" y="1127671"/>
            <a:ext cx="10883429" cy="472426"/>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7202F"/>
                </a:solidFill>
                <a:latin typeface="Space Grotesk" pitchFamily="34" charset="0"/>
                <a:ea typeface="Space Grotesk" pitchFamily="34" charset="-122"/>
                <a:cs typeface="Space Grotesk" pitchFamily="34" charset="-120"/>
              </a:rPr>
              <a:t>Live app and inventory metrics in Grafana</a:t>
            </a:r>
            <a:endParaRPr lang="en-US" sz="3200" dirty="0"/>
          </a:p>
        </p:txBody>
      </p:sp>
      <p:pic>
        <p:nvPicPr>
          <p:cNvPr id="4" name="Image 0" descr="Grafana dashboard Shelfwise API and inventory: requests per second, p95 latency, status codes, stock movements and HPA replicas">    </p:cNvPr>
          <p:cNvPicPr>
            <a:picLocks noChangeAspect="1"/>
          </p:cNvPicPr>
          <p:nvPr/>
        </p:nvPicPr>
        <p:blipFill>
          <a:blip r:embed="rId1"/>
          <a:srcRect l="-3" r="-3" t="0" b="0"/>
          <a:stretch/>
        </p:blipFill>
        <p:spPr>
          <a:xfrm>
            <a:off x="812782" y="1879476"/>
            <a:ext cx="5334000" cy="4165564"/>
          </a:xfrm>
          <a:prstGeom prst="roundRect">
            <a:avLst>
              <a:gd name="adj" fmla="val 2439"/>
            </a:avLst>
          </a:prstGeom>
          <a:effectLst>
            <a:outerShdw sx="100000" sy="100000" kx="0" ky="0" algn="bl" rotWithShape="0" blurRad="381000" dist="152400" dir="5400000">
              <a:srgbClr val="17202F">
                <a:alpha val="18000"/>
              </a:srgbClr>
            </a:outerShdw>
          </a:effectLst>
        </p:spPr>
      </p:pic>
      <p:pic>
        <p:nvPicPr>
          <p:cNvPr id="5" name="Image 1" descr="Prometheus targets page: serviceMonitor shelfwise-backend 6 of 6 up">    </p:cNvPr>
          <p:cNvPicPr>
            <a:picLocks noChangeAspect="1"/>
          </p:cNvPicPr>
          <p:nvPr/>
        </p:nvPicPr>
        <p:blipFill>
          <a:blip r:embed="rId2"/>
          <a:srcRect l="0" r="0" t="0" b="0"/>
          <a:stretch/>
        </p:blipFill>
        <p:spPr>
          <a:xfrm>
            <a:off x="6553173" y="1879476"/>
            <a:ext cx="4572000" cy="2857500"/>
          </a:xfrm>
          <a:prstGeom prst="roundRect">
            <a:avLst>
              <a:gd name="adj" fmla="val 3556"/>
            </a:avLst>
          </a:prstGeom>
          <a:effectLst>
            <a:outerShdw sx="100000" sy="100000" kx="0" ky="0" algn="bl" rotWithShape="0" blurRad="381000" dist="152400" dir="5400000">
              <a:srgbClr val="17202F">
                <a:alpha val="18000"/>
              </a:srgbClr>
            </a:outerShdw>
          </a:effectLst>
        </p:spPr>
      </p:pic>
      <p:sp>
        <p:nvSpPr>
          <p:cNvPr id="6" name="Text 2"/>
          <p:cNvSpPr/>
          <p:nvPr/>
        </p:nvSpPr>
        <p:spPr>
          <a:xfrm>
            <a:off x="6553173" y="4838539"/>
            <a:ext cx="4970826" cy="256535"/>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5568"/>
                </a:solidFill>
                <a:latin typeface="IBM Plex Sans" pitchFamily="34" charset="0"/>
                <a:ea typeface="IBM Plex Sans" pitchFamily="34" charset="-122"/>
                <a:cs typeface="IBM Plex Sans" pitchFamily="34" charset="-120"/>
              </a:rPr>
              <a:t>Prometheus:</a:t>
            </a:r>
            <a:r>
              <a:rPr lang="en-US" sz="1300" dirty="0">
                <a:solidFill>
                  <a:srgbClr val="4A5568"/>
                </a:solidFill>
                <a:latin typeface="IBM Plex Sans" pitchFamily="34" charset="0"/>
                <a:ea typeface="IBM Plex Sans" pitchFamily="34" charset="-122"/>
                <a:cs typeface="IBM Plex Sans" pitchFamily="34" charset="-120"/>
              </a:rPr>
              <a:t> 6/6 backend pods UP, scraped every 15s</a:t>
            </a:r>
            <a:endParaRPr lang="en-US" sz="1300" dirty="0"/>
          </a:p>
        </p:txBody>
      </p:sp>
      <p:sp>
        <p:nvSpPr>
          <p:cNvPr id="7" name="Text 3"/>
          <p:cNvSpPr/>
          <p:nvPr/>
        </p:nvSpPr>
        <p:spPr>
          <a:xfrm>
            <a:off x="6553173" y="5171238"/>
            <a:ext cx="4970826" cy="711092"/>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E46B0"/>
                </a:solidFill>
                <a:latin typeface="JetBrains Mono" pitchFamily="49" charset="0"/>
                <a:ea typeface="JetBrains Mono" pitchFamily="49" charset="-122"/>
                <a:cs typeface="JetBrains Mono" pitchFamily="49" charset="-120"/>
              </a:rPr>
              <a:t>shelfwise_stock_movements_total</a:t>
            </a:r>
            <a:endParaRPr lang="en-US" sz="1200" dirty="0"/>
          </a:p>
          <a:p>
            <a:pPr algn="l" indent="0" marL="0">
              <a:lnSpc>
                <a:spcPts val="1800"/>
              </a:lnSpc>
              <a:buNone/>
            </a:pPr>
            <a:r>
              <a:rPr lang="en-US" sz="1200" dirty="0">
                <a:solidFill>
                  <a:srgbClr val="1E46B0"/>
                </a:solidFill>
                <a:latin typeface="JetBrains Mono" pitchFamily="49" charset="0"/>
                <a:ea typeface="JetBrains Mono" pitchFamily="49" charset="-122"/>
                <a:cs typeface="JetBrains Mono" pitchFamily="49" charset="-120"/>
              </a:rPr>
              <a:t>shelfwise_units_on_hand</a:t>
            </a:r>
            <a:endParaRPr lang="en-US" sz="1200" dirty="0"/>
          </a:p>
          <a:p>
            <a:pPr algn="l" indent="0" marL="0">
              <a:lnSpc>
                <a:spcPts val="1800"/>
              </a:lnSpc>
              <a:buNone/>
            </a:pPr>
            <a:r>
              <a:rPr lang="en-US" sz="1200" dirty="0">
                <a:solidFill>
                  <a:srgbClr val="1E46B0"/>
                </a:solidFill>
                <a:latin typeface="JetBrains Mono" pitchFamily="49" charset="0"/>
                <a:ea typeface="JetBrains Mono" pitchFamily="49" charset="-122"/>
                <a:cs typeface="JetBrains Mono" pitchFamily="49" charset="-120"/>
              </a:rPr>
              <a:t>http_request_duration_seconds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1526"/>
        </a:solidFill>
      </p:bgPr>
    </p:bg>
    <p:spTree>
      <p:nvGrpSpPr>
        <p:cNvPr id="1" name=""/>
        <p:cNvGrpSpPr/>
        <p:nvPr/>
      </p:nvGrpSpPr>
      <p:grpSpPr>
        <a:xfrm>
          <a:off x="0" y="0"/>
          <a:ext cx="0" cy="0"/>
          <a:chOff x="0" y="0"/>
          <a:chExt cx="0" cy="0"/>
        </a:xfrm>
      </p:grpSpPr>
      <p:sp>
        <p:nvSpPr>
          <p:cNvPr id="2" name="Text 0"/>
          <p:cNvSpPr/>
          <p:nvPr/>
        </p:nvSpPr>
        <p:spPr>
          <a:xfrm>
            <a:off x="812782" y="812788"/>
            <a:ext cx="10883429"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F0B04F"/>
                </a:solidFill>
                <a:latin typeface="JetBrains Mono" pitchFamily="49" charset="0"/>
                <a:ea typeface="JetBrains Mono" pitchFamily="49" charset="-122"/>
                <a:cs typeface="JetBrains Mono" pitchFamily="49" charset="-120"/>
              </a:rPr>
              <a:t>M10 · GITOPS</a:t>
            </a:r>
            <a:endParaRPr lang="en-US" sz="1200" dirty="0"/>
          </a:p>
        </p:txBody>
      </p:sp>
      <p:sp>
        <p:nvSpPr>
          <p:cNvPr id="3" name="Text 1"/>
          <p:cNvSpPr/>
          <p:nvPr>
            <p:ph type="title"/>
          </p:nvPr>
        </p:nvSpPr>
        <p:spPr>
          <a:xfrm>
            <a:off x="812782" y="1127671"/>
            <a:ext cx="10883429" cy="472426"/>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F7F5EF"/>
                </a:solidFill>
                <a:latin typeface="Space Grotesk" pitchFamily="34" charset="0"/>
                <a:ea typeface="Space Grotesk" pitchFamily="34" charset="-122"/>
                <a:cs typeface="Space Grotesk" pitchFamily="34" charset="-120"/>
              </a:rPr>
              <a:t>A commit becomes a deployment, untouched</a:t>
            </a:r>
            <a:endParaRPr lang="en-US" sz="3200" dirty="0"/>
          </a:p>
        </p:txBody>
      </p:sp>
      <p:pic>
        <p:nvPicPr>
          <p:cNvPr id="4" name="Image 0" descr="Argo CD UI: shelfwise application Synced and Healthy">    </p:cNvPr>
          <p:cNvPicPr>
            <a:picLocks noChangeAspect="1"/>
          </p:cNvPicPr>
          <p:nvPr/>
        </p:nvPicPr>
        <p:blipFill>
          <a:blip r:embed="rId1"/>
          <a:srcRect l="-65" r="-65" t="0" b="0"/>
          <a:stretch/>
        </p:blipFill>
        <p:spPr>
          <a:xfrm>
            <a:off x="819132" y="1885826"/>
            <a:ext cx="5829300" cy="3638550"/>
          </a:xfrm>
          <a:prstGeom prst="roundRect">
            <a:avLst>
              <a:gd name="adj" fmla="val 2618"/>
            </a:avLst>
          </a:prstGeom>
        </p:spPr>
      </p:pic>
      <p:sp>
        <p:nvSpPr>
          <p:cNvPr id="5" name="Shape 2"/>
          <p:cNvSpPr/>
          <p:nvPr/>
        </p:nvSpPr>
        <p:spPr>
          <a:xfrm>
            <a:off x="815957" y="1882651"/>
            <a:ext cx="5835650" cy="3644900"/>
          </a:xfrm>
          <a:prstGeom prst="roundRect">
            <a:avLst>
              <a:gd name="adj" fmla="val 2700"/>
            </a:avLst>
          </a:prstGeom>
          <a:noFill/>
          <a:ln w="6350">
            <a:solidFill>
              <a:srgbClr val="2B3A5C"/>
            </a:solidFill>
            <a:prstDash val="solid"/>
          </a:ln>
        </p:spPr>
      </p:sp>
      <p:sp>
        <p:nvSpPr>
          <p:cNvPr id="6" name="Text 3"/>
          <p:cNvSpPr/>
          <p:nvPr/>
        </p:nvSpPr>
        <p:spPr>
          <a:xfrm>
            <a:off x="812782" y="5632289"/>
            <a:ext cx="6017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C6"/>
                </a:solidFill>
                <a:latin typeface="JetBrains Mono" pitchFamily="49" charset="0"/>
                <a:ea typeface="JetBrains Mono" pitchFamily="49" charset="-122"/>
                <a:cs typeface="JetBrains Mono" pitchFamily="49" charset="-120"/>
              </a:rPr>
              <a:t>Argo CD · Synced · Healthy</a:t>
            </a:r>
            <a:endParaRPr lang="en-US" sz="1200" dirty="0"/>
          </a:p>
        </p:txBody>
      </p:sp>
      <p:sp>
        <p:nvSpPr>
          <p:cNvPr id="7" name="Text 4"/>
          <p:cNvSpPr/>
          <p:nvPr/>
        </p:nvSpPr>
        <p:spPr>
          <a:xfrm>
            <a:off x="6962739" y="1882651"/>
            <a:ext cx="4413304" cy="1503579"/>
          </a:xfrm>
          <a:prstGeom prst="roundRect">
            <a:avLst>
              <a:gd name="adj" fmla="val 6546"/>
            </a:avLst>
          </a:prstGeom>
          <a:solidFill>
            <a:srgbClr val="18223A"/>
          </a:solidFill>
          <a:ln w="6350">
            <a:solidFill>
              <a:srgbClr val="2B3A5C"/>
            </a:solidFill>
            <a:prstDash val="solid"/>
          </a:ln>
        </p:spPr>
        <p:txBody>
          <a:bodyPr wrap="square" lIns="151552" tIns="151570" rIns="29976" bIns="126134" rtlCol="0" anchor="t">
            <a:normAutofit/>
          </a:bodyPr>
          <a:lstStyle/>
          <a:p>
            <a:pPr algn="l" indent="0" marL="0">
              <a:lnSpc>
                <a:spcPts val="1800"/>
              </a:lnSpc>
              <a:buNone/>
            </a:pPr>
            <a:r>
              <a:rPr lang="en-US" sz="1200" dirty="0">
                <a:solidFill>
                  <a:srgbClr val="F0B04F"/>
                </a:solidFill>
                <a:latin typeface="JetBrains Mono" pitchFamily="49" charset="0"/>
                <a:ea typeface="JetBrains Mono" pitchFamily="49" charset="-122"/>
                <a:cs typeface="JetBrains Mono" pitchFamily="49" charset="-120"/>
              </a:rPr>
              <a:t>1</a:t>
            </a:r>
            <a:r>
              <a:rPr lang="en-US" sz="1200" dirty="0">
                <a:solidFill>
                  <a:srgbClr val="EDEBE4"/>
                </a:solidFill>
                <a:latin typeface="JetBrains Mono" pitchFamily="49" charset="0"/>
                <a:ea typeface="JetBrains Mono" pitchFamily="49" charset="-122"/>
                <a:cs typeface="JetBrains Mono" pitchFamily="49" charset="-120"/>
              </a:rPr>
              <a:t> push bd4fffe</a:t>
            </a:r>
            <a:endParaRPr lang="en-US" sz="1200" dirty="0"/>
          </a:p>
          <a:p>
            <a:pPr algn="l" indent="0" marL="0">
              <a:lnSpc>
                <a:spcPts val="1800"/>
              </a:lnSpc>
              <a:buNone/>
            </a:pPr>
            <a:r>
              <a:rPr lang="en-US" sz="1200" dirty="0">
                <a:solidFill>
                  <a:srgbClr val="F0B04F"/>
                </a:solidFill>
                <a:latin typeface="JetBrains Mono" pitchFamily="49" charset="0"/>
                <a:ea typeface="JetBrains Mono" pitchFamily="49" charset="-122"/>
                <a:cs typeface="JetBrains Mono" pitchFamily="49" charset="-120"/>
              </a:rPr>
              <a:t>2</a:t>
            </a:r>
            <a:r>
              <a:rPr lang="en-US" sz="1200" dirty="0">
                <a:solidFill>
                  <a:srgbClr val="EDEBE4"/>
                </a:solidFill>
                <a:latin typeface="JetBrains Mono" pitchFamily="49" charset="0"/>
                <a:ea typeface="JetBrains Mono" pitchFamily="49" charset="-122"/>
                <a:cs typeface="JetBrains Mono" pitchFamily="49" charset="-120"/>
              </a:rPr>
              <a:t> pipeline run green</a:t>
            </a:r>
            <a:endParaRPr lang="en-US" sz="1200" dirty="0"/>
          </a:p>
          <a:p>
            <a:pPr algn="l" indent="0" marL="0">
              <a:lnSpc>
                <a:spcPts val="1800"/>
              </a:lnSpc>
              <a:buNone/>
            </a:pPr>
            <a:r>
              <a:rPr lang="en-US" sz="1200" dirty="0">
                <a:solidFill>
                  <a:srgbClr val="F0B04F"/>
                </a:solidFill>
                <a:latin typeface="JetBrains Mono" pitchFamily="49" charset="0"/>
                <a:ea typeface="JetBrains Mono" pitchFamily="49" charset="-122"/>
                <a:cs typeface="JetBrains Mono" pitchFamily="49" charset="-120"/>
              </a:rPr>
              <a:t>3</a:t>
            </a:r>
            <a:r>
              <a:rPr lang="en-US" sz="1200" dirty="0">
                <a:solidFill>
                  <a:srgbClr val="EDEBE4"/>
                </a:solidFill>
                <a:latin typeface="JetBrains Mono" pitchFamily="49" charset="0"/>
                <a:ea typeface="JetBrains Mono" pitchFamily="49" charset="-122"/>
                <a:cs typeface="JetBrains Mono" pitchFamily="49" charset="-120"/>
              </a:rPr>
              <a:t> bot commits b73ec3b</a:t>
            </a:r>
            <a:endParaRPr lang="en-US" sz="1200" dirty="0"/>
          </a:p>
          <a:p>
            <a:pPr algn="l" indent="0" marL="0">
              <a:lnSpc>
                <a:spcPts val="1800"/>
              </a:lnSpc>
              <a:buNone/>
            </a:pPr>
            <a:r>
              <a:rPr lang="en-US" sz="1200" dirty="0">
                <a:solidFill>
                  <a:srgbClr val="F0B04F"/>
                </a:solidFill>
                <a:latin typeface="JetBrains Mono" pitchFamily="49" charset="0"/>
                <a:ea typeface="JetBrains Mono" pitchFamily="49" charset="-122"/>
                <a:cs typeface="JetBrains Mono" pitchFamily="49" charset="-120"/>
              </a:rPr>
              <a:t>4</a:t>
            </a:r>
            <a:r>
              <a:rPr lang="en-US" sz="1200" dirty="0">
                <a:solidFill>
                  <a:srgbClr val="EDEBE4"/>
                </a:solidFill>
                <a:latin typeface="JetBrains Mono" pitchFamily="49" charset="0"/>
                <a:ea typeface="JetBrains Mono" pitchFamily="49" charset="-122"/>
                <a:cs typeface="JetBrains Mono" pitchFamily="49" charset="-120"/>
              </a:rPr>
              <a:t> Argo CD syncs</a:t>
            </a:r>
            <a:endParaRPr lang="en-US" sz="1200" dirty="0"/>
          </a:p>
          <a:p>
            <a:pPr algn="l" indent="0" marL="0">
              <a:lnSpc>
                <a:spcPts val="1800"/>
              </a:lnSpc>
              <a:buNone/>
            </a:pPr>
            <a:r>
              <a:rPr lang="en-US" sz="1200" dirty="0">
                <a:solidFill>
                  <a:srgbClr val="F0B04F"/>
                </a:solidFill>
                <a:latin typeface="JetBrains Mono" pitchFamily="49" charset="0"/>
                <a:ea typeface="JetBrains Mono" pitchFamily="49" charset="-122"/>
                <a:cs typeface="JetBrains Mono" pitchFamily="49" charset="-120"/>
              </a:rPr>
              <a:t>5</a:t>
            </a:r>
            <a:r>
              <a:rPr lang="en-US" sz="1200" dirty="0">
                <a:solidFill>
                  <a:srgbClr val="EDEBE4"/>
                </a:solidFill>
                <a:latin typeface="JetBrains Mono" pitchFamily="49" charset="0"/>
                <a:ea typeface="JetBrains Mono" pitchFamily="49" charset="-122"/>
                <a:cs typeface="JetBrains Mono" pitchFamily="49" charset="-120"/>
              </a:rPr>
              <a:t> pods roll to the new SHA</a:t>
            </a:r>
            <a:endParaRPr lang="en-US" sz="1200" dirty="0"/>
          </a:p>
        </p:txBody>
      </p:sp>
      <p:pic>
        <p:nvPicPr>
          <p:cNvPr id="8" name="Image 1" descr="Shelfwise header showing the build pill with the new commit SHA">    </p:cNvPr>
          <p:cNvPicPr>
            <a:picLocks noChangeAspect="1"/>
          </p:cNvPicPr>
          <p:nvPr/>
        </p:nvPicPr>
        <p:blipFill>
          <a:blip r:embed="rId2"/>
          <a:srcRect l="-309" r="-309" t="0" b="0"/>
          <a:stretch/>
        </p:blipFill>
        <p:spPr>
          <a:xfrm>
            <a:off x="6965914" y="3548149"/>
            <a:ext cx="4406864" cy="1581114"/>
          </a:xfrm>
          <a:prstGeom prst="roundRect">
            <a:avLst>
              <a:gd name="adj" fmla="val 6024"/>
            </a:avLst>
          </a:prstGeom>
        </p:spPr>
      </p:pic>
      <p:sp>
        <p:nvSpPr>
          <p:cNvPr id="9" name="Shape 5"/>
          <p:cNvSpPr/>
          <p:nvPr/>
        </p:nvSpPr>
        <p:spPr>
          <a:xfrm>
            <a:off x="6962739" y="3544974"/>
            <a:ext cx="4413214" cy="1587464"/>
          </a:xfrm>
          <a:prstGeom prst="roundRect">
            <a:avLst>
              <a:gd name="adj" fmla="val 6200"/>
            </a:avLst>
          </a:prstGeom>
          <a:noFill/>
          <a:ln w="6350">
            <a:solidFill>
              <a:srgbClr val="2B3A5C"/>
            </a:solidFill>
            <a:prstDash val="solid"/>
          </a:ln>
        </p:spPr>
      </p:sp>
      <p:sp>
        <p:nvSpPr>
          <p:cNvPr id="10" name="Text 6"/>
          <p:cNvSpPr/>
          <p:nvPr/>
        </p:nvSpPr>
        <p:spPr>
          <a:xfrm>
            <a:off x="6959564" y="5288000"/>
            <a:ext cx="4552243" cy="25653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A9B4C6"/>
                </a:solidFill>
                <a:latin typeface="IBM Plex Sans" pitchFamily="34" charset="0"/>
                <a:ea typeface="IBM Plex Sans" pitchFamily="34" charset="-122"/>
                <a:cs typeface="IBM Plex Sans" pitchFamily="34" charset="-120"/>
              </a:rPr>
              <a:t>The header’s build pill shows the SHA it was built from.</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782" y="812781"/>
            <a:ext cx="10883429"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A3560F"/>
                </a:solidFill>
                <a:latin typeface="JetBrains Mono" pitchFamily="49" charset="0"/>
                <a:ea typeface="JetBrains Mono" pitchFamily="49" charset="-122"/>
                <a:cs typeface="JetBrains Mono" pitchFamily="49" charset="-120"/>
              </a:rPr>
              <a:t>HARDENING</a:t>
            </a:r>
            <a:endParaRPr lang="en-US" sz="1200" dirty="0"/>
          </a:p>
        </p:txBody>
      </p:sp>
      <p:sp>
        <p:nvSpPr>
          <p:cNvPr id="3" name="Text 1"/>
          <p:cNvSpPr/>
          <p:nvPr>
            <p:ph type="title"/>
          </p:nvPr>
        </p:nvSpPr>
        <p:spPr>
          <a:xfrm>
            <a:off x="812782" y="1127671"/>
            <a:ext cx="10883429" cy="472426"/>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7202F"/>
                </a:solidFill>
                <a:latin typeface="Space Grotesk" pitchFamily="34" charset="0"/>
                <a:ea typeface="Space Grotesk" pitchFamily="34" charset="-122"/>
                <a:cs typeface="Space Grotesk" pitchFamily="34" charset="-120"/>
              </a:rPr>
              <a:t>Secure by default, at every layer</a:t>
            </a:r>
            <a:endParaRPr lang="en-US" sz="3200" dirty="0"/>
          </a:p>
        </p:txBody>
      </p:sp>
      <p:sp>
        <p:nvSpPr>
          <p:cNvPr id="4" name="Shape 2"/>
          <p:cNvSpPr/>
          <p:nvPr/>
        </p:nvSpPr>
        <p:spPr>
          <a:xfrm>
            <a:off x="815957" y="1882657"/>
            <a:ext cx="5200650" cy="1069407"/>
          </a:xfrm>
          <a:prstGeom prst="roundRect">
            <a:avLst>
              <a:gd name="adj" fmla="val 9204"/>
            </a:avLst>
          </a:prstGeom>
          <a:solidFill>
            <a:srgbClr val="FBFAF6"/>
          </a:solidFill>
          <a:ln w="6350">
            <a:solidFill>
              <a:srgbClr val="DDD8CB"/>
            </a:solidFill>
            <a:prstDash val="solid"/>
          </a:ln>
        </p:spPr>
      </p:sp>
      <p:pic>
        <p:nvPicPr>
          <p:cNvPr id="5" name="Image 0" descr="Lock">    </p:cNvPr>
          <p:cNvPicPr>
            <a:picLocks noChangeAspect="1"/>
          </p:cNvPicPr>
          <p:nvPr/>
        </p:nvPicPr>
        <p:blipFill>
          <a:blip r:embed="rId1"/>
          <a:srcRect l="0" r="0" t="0" b="0"/>
          <a:stretch/>
        </p:blipFill>
        <p:spPr>
          <a:xfrm>
            <a:off x="1072555" y="2139249"/>
            <a:ext cx="355564" cy="355564"/>
          </a:xfrm>
          <a:prstGeom prst="rect">
            <a:avLst/>
          </a:prstGeom>
        </p:spPr>
      </p:pic>
      <p:sp>
        <p:nvSpPr>
          <p:cNvPr id="6" name="Text 3"/>
          <p:cNvSpPr/>
          <p:nvPr/>
        </p:nvSpPr>
        <p:spPr>
          <a:xfrm>
            <a:off x="1605901" y="2139249"/>
            <a:ext cx="4278732" cy="29969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7202F"/>
                </a:solidFill>
                <a:latin typeface="Space Grotesk" pitchFamily="34" charset="0"/>
                <a:ea typeface="Space Grotesk" pitchFamily="34" charset="-122"/>
                <a:cs typeface="Space Grotesk" pitchFamily="34" charset="-120"/>
              </a:rPr>
              <a:t>Non-root images</a:t>
            </a:r>
            <a:endParaRPr lang="en-US" sz="1800" dirty="0"/>
          </a:p>
        </p:txBody>
      </p:sp>
      <p:sp>
        <p:nvSpPr>
          <p:cNvPr id="7" name="Text 4"/>
          <p:cNvSpPr/>
          <p:nvPr/>
        </p:nvSpPr>
        <p:spPr>
          <a:xfrm>
            <a:off x="1605901" y="2464327"/>
            <a:ext cx="4278732" cy="25653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Backend runs as uid 10001, nginx as uid 101.</a:t>
            </a:r>
            <a:endParaRPr lang="en-US" sz="1300" dirty="0"/>
          </a:p>
        </p:txBody>
      </p:sp>
      <p:sp>
        <p:nvSpPr>
          <p:cNvPr id="8" name="Shape 5"/>
          <p:cNvSpPr/>
          <p:nvPr/>
        </p:nvSpPr>
        <p:spPr>
          <a:xfrm>
            <a:off x="6175348" y="1882657"/>
            <a:ext cx="5200695" cy="1069407"/>
          </a:xfrm>
          <a:prstGeom prst="roundRect">
            <a:avLst>
              <a:gd name="adj" fmla="val 9204"/>
            </a:avLst>
          </a:prstGeom>
          <a:solidFill>
            <a:srgbClr val="FBFAF6"/>
          </a:solidFill>
          <a:ln w="6350">
            <a:solidFill>
              <a:srgbClr val="DDD8CB"/>
            </a:solidFill>
            <a:prstDash val="solid"/>
          </a:ln>
        </p:spPr>
      </p:sp>
      <p:pic>
        <p:nvPicPr>
          <p:cNvPr id="9" name="Image 1" descr="Verified">    </p:cNvPr>
          <p:cNvPicPr>
            <a:picLocks noChangeAspect="1"/>
          </p:cNvPicPr>
          <p:nvPr/>
        </p:nvPicPr>
        <p:blipFill>
          <a:blip r:embed="rId2"/>
          <a:srcRect l="0" r="0" t="0" b="0"/>
          <a:stretch/>
        </p:blipFill>
        <p:spPr>
          <a:xfrm>
            <a:off x="6431945" y="2139249"/>
            <a:ext cx="355564" cy="355564"/>
          </a:xfrm>
          <a:prstGeom prst="rect">
            <a:avLst/>
          </a:prstGeom>
        </p:spPr>
      </p:pic>
      <p:sp>
        <p:nvSpPr>
          <p:cNvPr id="10" name="Text 6"/>
          <p:cNvSpPr/>
          <p:nvPr/>
        </p:nvSpPr>
        <p:spPr>
          <a:xfrm>
            <a:off x="6965291" y="2139249"/>
            <a:ext cx="4278778" cy="29969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7202F"/>
                </a:solidFill>
                <a:latin typeface="Space Grotesk" pitchFamily="34" charset="0"/>
                <a:ea typeface="Space Grotesk" pitchFamily="34" charset="-122"/>
                <a:cs typeface="Space Grotesk" pitchFamily="34" charset="-120"/>
              </a:rPr>
              <a:t>Restricted Pod Security</a:t>
            </a:r>
            <a:endParaRPr lang="en-US" sz="1800" dirty="0"/>
          </a:p>
        </p:txBody>
      </p:sp>
      <p:sp>
        <p:nvSpPr>
          <p:cNvPr id="11" name="Text 7"/>
          <p:cNvSpPr/>
          <p:nvPr/>
        </p:nvSpPr>
        <p:spPr>
          <a:xfrm>
            <a:off x="6965291" y="2464327"/>
            <a:ext cx="4407577" cy="25653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The namespace enforces the strictest built-in standard.</a:t>
            </a:r>
            <a:endParaRPr lang="en-US" sz="1300" dirty="0"/>
          </a:p>
        </p:txBody>
      </p:sp>
      <p:sp>
        <p:nvSpPr>
          <p:cNvPr id="12" name="Shape 8"/>
          <p:cNvSpPr/>
          <p:nvPr/>
        </p:nvSpPr>
        <p:spPr>
          <a:xfrm>
            <a:off x="815957" y="3110799"/>
            <a:ext cx="5200650" cy="1300541"/>
          </a:xfrm>
          <a:prstGeom prst="roundRect">
            <a:avLst>
              <a:gd name="adj" fmla="val 7568"/>
            </a:avLst>
          </a:prstGeom>
          <a:solidFill>
            <a:srgbClr val="FBFAF6"/>
          </a:solidFill>
          <a:ln w="6350">
            <a:solidFill>
              <a:srgbClr val="DDD8CB"/>
            </a:solidFill>
            <a:prstDash val="solid"/>
          </a:ln>
        </p:spPr>
      </p:sp>
      <p:pic>
        <p:nvPicPr>
          <p:cNvPr id="13" name="Image 2" descr="Settings">    </p:cNvPr>
          <p:cNvPicPr>
            <a:picLocks noChangeAspect="1"/>
          </p:cNvPicPr>
          <p:nvPr/>
        </p:nvPicPr>
        <p:blipFill>
          <a:blip r:embed="rId3"/>
          <a:srcRect l="0" r="0" t="0" b="0"/>
          <a:stretch/>
        </p:blipFill>
        <p:spPr>
          <a:xfrm>
            <a:off x="1072555" y="3367391"/>
            <a:ext cx="355564" cy="355564"/>
          </a:xfrm>
          <a:prstGeom prst="rect">
            <a:avLst/>
          </a:prstGeom>
        </p:spPr>
      </p:pic>
      <p:sp>
        <p:nvSpPr>
          <p:cNvPr id="14" name="Text 9"/>
          <p:cNvSpPr/>
          <p:nvPr/>
        </p:nvSpPr>
        <p:spPr>
          <a:xfrm>
            <a:off x="1605901" y="3367391"/>
            <a:ext cx="4278732" cy="29969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7202F"/>
                </a:solidFill>
                <a:latin typeface="Space Grotesk" pitchFamily="34" charset="0"/>
                <a:ea typeface="Space Grotesk" pitchFamily="34" charset="-122"/>
                <a:cs typeface="Space Grotesk" pitchFamily="34" charset="-120"/>
              </a:rPr>
              <a:t>Locked-down containers</a:t>
            </a:r>
            <a:endParaRPr lang="en-US" sz="1800" dirty="0"/>
          </a:p>
        </p:txBody>
      </p:sp>
      <p:sp>
        <p:nvSpPr>
          <p:cNvPr id="15" name="Text 10"/>
          <p:cNvSpPr/>
          <p:nvPr/>
        </p:nvSpPr>
        <p:spPr>
          <a:xfrm>
            <a:off x="1605901" y="3692469"/>
            <a:ext cx="4278732" cy="48766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Read-only root filesystem, no privilege escalation, all capabilities dropped.</a:t>
            </a:r>
            <a:endParaRPr lang="en-US" sz="1300" dirty="0"/>
          </a:p>
        </p:txBody>
      </p:sp>
      <p:sp>
        <p:nvSpPr>
          <p:cNvPr id="16" name="Shape 11"/>
          <p:cNvSpPr/>
          <p:nvPr/>
        </p:nvSpPr>
        <p:spPr>
          <a:xfrm>
            <a:off x="6175348" y="3110799"/>
            <a:ext cx="5200695" cy="1300541"/>
          </a:xfrm>
          <a:prstGeom prst="roundRect">
            <a:avLst>
              <a:gd name="adj" fmla="val 7568"/>
            </a:avLst>
          </a:prstGeom>
          <a:solidFill>
            <a:srgbClr val="FBFAF6"/>
          </a:solidFill>
          <a:ln w="6350">
            <a:solidFill>
              <a:srgbClr val="DDD8CB"/>
            </a:solidFill>
            <a:prstDash val="solid"/>
          </a:ln>
        </p:spPr>
      </p:sp>
      <p:pic>
        <p:nvPicPr>
          <p:cNvPr id="17" name="Image 3" descr="Key">    </p:cNvPr>
          <p:cNvPicPr>
            <a:picLocks noChangeAspect="1"/>
          </p:cNvPicPr>
          <p:nvPr/>
        </p:nvPicPr>
        <p:blipFill>
          <a:blip r:embed="rId4"/>
          <a:srcRect l="0" r="0" t="0" b="0"/>
          <a:stretch/>
        </p:blipFill>
        <p:spPr>
          <a:xfrm>
            <a:off x="6431945" y="3367391"/>
            <a:ext cx="355564" cy="355564"/>
          </a:xfrm>
          <a:prstGeom prst="rect">
            <a:avLst/>
          </a:prstGeom>
        </p:spPr>
      </p:pic>
      <p:sp>
        <p:nvSpPr>
          <p:cNvPr id="18" name="Text 12"/>
          <p:cNvSpPr/>
          <p:nvPr/>
        </p:nvSpPr>
        <p:spPr>
          <a:xfrm>
            <a:off x="6965291" y="3367391"/>
            <a:ext cx="4278778" cy="29969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7202F"/>
                </a:solidFill>
                <a:latin typeface="Space Grotesk" pitchFamily="34" charset="0"/>
                <a:ea typeface="Space Grotesk" pitchFamily="34" charset="-122"/>
                <a:cs typeface="Space Grotesk" pitchFamily="34" charset="-120"/>
              </a:rPr>
              <a:t>No committed secrets</a:t>
            </a:r>
            <a:endParaRPr lang="en-US" sz="1800" dirty="0"/>
          </a:p>
        </p:txBody>
      </p:sp>
      <p:sp>
        <p:nvSpPr>
          <p:cNvPr id="19" name="Text 13"/>
          <p:cNvSpPr/>
          <p:nvPr/>
        </p:nvSpPr>
        <p:spPr>
          <a:xfrm>
            <a:off x="6965291" y="3692469"/>
            <a:ext cx="4278778" cy="48766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Postgres password generated by the chart; tfvars and .env git-ignored.</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782" y="812775"/>
            <a:ext cx="10883429"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A3560F"/>
                </a:solidFill>
                <a:latin typeface="JetBrains Mono" pitchFamily="49" charset="0"/>
                <a:ea typeface="JetBrains Mono" pitchFamily="49" charset="-122"/>
                <a:cs typeface="JetBrains Mono" pitchFamily="49" charset="-120"/>
              </a:rPr>
              <a:t>M8 · TROUBLESHOOTING</a:t>
            </a:r>
            <a:endParaRPr lang="en-US" sz="1200" dirty="0"/>
          </a:p>
        </p:txBody>
      </p:sp>
      <p:sp>
        <p:nvSpPr>
          <p:cNvPr id="3" name="Text 1"/>
          <p:cNvSpPr/>
          <p:nvPr>
            <p:ph type="title"/>
          </p:nvPr>
        </p:nvSpPr>
        <p:spPr>
          <a:xfrm>
            <a:off x="812782" y="1127658"/>
            <a:ext cx="10883429" cy="472426"/>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7202F"/>
                </a:solidFill>
                <a:latin typeface="Space Grotesk" pitchFamily="34" charset="0"/>
                <a:ea typeface="Space Grotesk" pitchFamily="34" charset="-122"/>
                <a:cs typeface="Space Grotesk" pitchFamily="34" charset="-120"/>
              </a:rPr>
              <a:t>Four labs: break it on purpose, then fix it</a:t>
            </a:r>
            <a:endParaRPr lang="en-US" sz="3200" dirty="0"/>
          </a:p>
        </p:txBody>
      </p:sp>
      <p:pic>
        <p:nvPicPr>
          <p:cNvPr id="4" name="Image 0" descr="Terminal: troubleshooting labs showing a broken Service with no endpoints and the fix">    </p:cNvPr>
          <p:cNvPicPr>
            <a:picLocks noChangeAspect="1"/>
          </p:cNvPicPr>
          <p:nvPr/>
        </p:nvPicPr>
        <p:blipFill>
          <a:blip r:embed="rId1"/>
          <a:srcRect l="-25" r="-25" t="0" b="0"/>
          <a:stretch/>
        </p:blipFill>
        <p:spPr>
          <a:xfrm>
            <a:off x="812782" y="1879464"/>
            <a:ext cx="5715000" cy="3213064"/>
          </a:xfrm>
          <a:prstGeom prst="roundRect">
            <a:avLst>
              <a:gd name="adj" fmla="val 3162"/>
            </a:avLst>
          </a:prstGeom>
          <a:effectLst>
            <a:outerShdw sx="100000" sy="100000" kx="0" ky="0" algn="bl" rotWithShape="0" blurRad="381000" dist="152400" dir="5400000">
              <a:srgbClr val="17202F">
                <a:alpha val="18000"/>
              </a:srgbClr>
            </a:outerShdw>
          </a:effectLst>
        </p:spPr>
      </p:pic>
      <p:sp>
        <p:nvSpPr>
          <p:cNvPr id="5" name="Text 2"/>
          <p:cNvSpPr/>
          <p:nvPr/>
        </p:nvSpPr>
        <p:spPr>
          <a:xfrm>
            <a:off x="6934173" y="1879464"/>
            <a:ext cx="264165" cy="274259"/>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F5BD3"/>
                </a:solidFill>
                <a:latin typeface="JetBrains Mono" pitchFamily="49" charset="0"/>
                <a:ea typeface="JetBrains Mono" pitchFamily="49" charset="-122"/>
                <a:cs typeface="JetBrains Mono" pitchFamily="49" charset="-120"/>
              </a:rPr>
              <a:t>01</a:t>
            </a:r>
            <a:endParaRPr lang="en-US" sz="1400" dirty="0"/>
          </a:p>
        </p:txBody>
      </p:sp>
      <p:sp>
        <p:nvSpPr>
          <p:cNvPr id="6" name="Text 3"/>
          <p:cNvSpPr/>
          <p:nvPr/>
        </p:nvSpPr>
        <p:spPr>
          <a:xfrm>
            <a:off x="7274538" y="1879464"/>
            <a:ext cx="4227820" cy="253964"/>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7202F"/>
                </a:solidFill>
                <a:latin typeface="Space Grotesk" pitchFamily="34" charset="0"/>
                <a:ea typeface="Space Grotesk" pitchFamily="34" charset="-122"/>
                <a:cs typeface="Space Grotesk" pitchFamily="34" charset="-120"/>
              </a:rPr>
              <a:t>ImagePullBackOff</a:t>
            </a:r>
            <a:endParaRPr lang="en-US" sz="1500" dirty="0"/>
          </a:p>
        </p:txBody>
      </p:sp>
      <p:sp>
        <p:nvSpPr>
          <p:cNvPr id="7" name="Text 4"/>
          <p:cNvSpPr/>
          <p:nvPr/>
        </p:nvSpPr>
        <p:spPr>
          <a:xfrm>
            <a:off x="7274538" y="2133426"/>
            <a:ext cx="42278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The image tag doesn’t exist</a:t>
            </a:r>
            <a:endParaRPr lang="en-US" sz="1200" dirty="0"/>
          </a:p>
        </p:txBody>
      </p:sp>
      <p:sp>
        <p:nvSpPr>
          <p:cNvPr id="8" name="Text 5"/>
          <p:cNvSpPr/>
          <p:nvPr/>
        </p:nvSpPr>
        <p:spPr>
          <a:xfrm>
            <a:off x="6934173" y="2524522"/>
            <a:ext cx="264165" cy="274259"/>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F5BD3"/>
                </a:solidFill>
                <a:latin typeface="JetBrains Mono" pitchFamily="49" charset="0"/>
                <a:ea typeface="JetBrains Mono" pitchFamily="49" charset="-122"/>
                <a:cs typeface="JetBrains Mono" pitchFamily="49" charset="-120"/>
              </a:rPr>
              <a:t>02</a:t>
            </a:r>
            <a:endParaRPr lang="en-US" sz="1400" dirty="0"/>
          </a:p>
        </p:txBody>
      </p:sp>
      <p:sp>
        <p:nvSpPr>
          <p:cNvPr id="9" name="Text 6"/>
          <p:cNvSpPr/>
          <p:nvPr/>
        </p:nvSpPr>
        <p:spPr>
          <a:xfrm>
            <a:off x="7274538" y="2524522"/>
            <a:ext cx="4227820" cy="253964"/>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7202F"/>
                </a:solidFill>
                <a:latin typeface="Space Grotesk" pitchFamily="34" charset="0"/>
                <a:ea typeface="Space Grotesk" pitchFamily="34" charset="-122"/>
                <a:cs typeface="Space Grotesk" pitchFamily="34" charset="-120"/>
              </a:rPr>
              <a:t>No endpoints</a:t>
            </a:r>
            <a:endParaRPr lang="en-US" sz="1500" dirty="0"/>
          </a:p>
        </p:txBody>
      </p:sp>
      <p:sp>
        <p:nvSpPr>
          <p:cNvPr id="10" name="Text 7"/>
          <p:cNvSpPr/>
          <p:nvPr/>
        </p:nvSpPr>
        <p:spPr>
          <a:xfrm>
            <a:off x="7274538" y="2778485"/>
            <a:ext cx="42278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Service selector doesn’t match the pod labels</a:t>
            </a:r>
            <a:endParaRPr lang="en-US" sz="1200" dirty="0"/>
          </a:p>
        </p:txBody>
      </p:sp>
      <p:sp>
        <p:nvSpPr>
          <p:cNvPr id="11" name="Text 8"/>
          <p:cNvSpPr/>
          <p:nvPr/>
        </p:nvSpPr>
        <p:spPr>
          <a:xfrm>
            <a:off x="6934173" y="3169580"/>
            <a:ext cx="264165" cy="274259"/>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F5BD3"/>
                </a:solidFill>
                <a:latin typeface="JetBrains Mono" pitchFamily="49" charset="0"/>
                <a:ea typeface="JetBrains Mono" pitchFamily="49" charset="-122"/>
                <a:cs typeface="JetBrains Mono" pitchFamily="49" charset="-120"/>
              </a:rPr>
              <a:t>03</a:t>
            </a:r>
            <a:endParaRPr lang="en-US" sz="1400" dirty="0"/>
          </a:p>
        </p:txBody>
      </p:sp>
      <p:sp>
        <p:nvSpPr>
          <p:cNvPr id="12" name="Text 9"/>
          <p:cNvSpPr/>
          <p:nvPr/>
        </p:nvSpPr>
        <p:spPr>
          <a:xfrm>
            <a:off x="7274538" y="3169580"/>
            <a:ext cx="4227820" cy="253964"/>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7202F"/>
                </a:solidFill>
                <a:latin typeface="Space Grotesk" pitchFamily="34" charset="0"/>
                <a:ea typeface="Space Grotesk" pitchFamily="34" charset="-122"/>
                <a:cs typeface="Space Grotesk" pitchFamily="34" charset="-120"/>
              </a:rPr>
              <a:t>Running, not Ready</a:t>
            </a:r>
            <a:endParaRPr lang="en-US" sz="1500" dirty="0"/>
          </a:p>
        </p:txBody>
      </p:sp>
      <p:sp>
        <p:nvSpPr>
          <p:cNvPr id="13" name="Text 10"/>
          <p:cNvSpPr/>
          <p:nvPr/>
        </p:nvSpPr>
        <p:spPr>
          <a:xfrm>
            <a:off x="7274538" y="3423543"/>
            <a:ext cx="42278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The database password is wrong</a:t>
            </a:r>
            <a:endParaRPr lang="en-US" sz="1200" dirty="0"/>
          </a:p>
        </p:txBody>
      </p:sp>
      <p:sp>
        <p:nvSpPr>
          <p:cNvPr id="14" name="Text 11"/>
          <p:cNvSpPr/>
          <p:nvPr/>
        </p:nvSpPr>
        <p:spPr>
          <a:xfrm>
            <a:off x="6934173" y="3814638"/>
            <a:ext cx="264165" cy="274259"/>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F5BD3"/>
                </a:solidFill>
                <a:latin typeface="JetBrains Mono" pitchFamily="49" charset="0"/>
                <a:ea typeface="JetBrains Mono" pitchFamily="49" charset="-122"/>
                <a:cs typeface="JetBrains Mono" pitchFamily="49" charset="-120"/>
              </a:rPr>
              <a:t>04</a:t>
            </a:r>
            <a:endParaRPr lang="en-US" sz="1400" dirty="0"/>
          </a:p>
        </p:txBody>
      </p:sp>
      <p:sp>
        <p:nvSpPr>
          <p:cNvPr id="15" name="Text 12"/>
          <p:cNvSpPr/>
          <p:nvPr/>
        </p:nvSpPr>
        <p:spPr>
          <a:xfrm>
            <a:off x="7274538" y="3814638"/>
            <a:ext cx="4227820" cy="253964"/>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7202F"/>
                </a:solidFill>
                <a:latin typeface="Space Grotesk" pitchFamily="34" charset="0"/>
                <a:ea typeface="Space Grotesk" pitchFamily="34" charset="-122"/>
                <a:cs typeface="Space Grotesk" pitchFamily="34" charset="-120"/>
              </a:rPr>
              <a:t>Forbidden</a:t>
            </a:r>
            <a:endParaRPr lang="en-US" sz="1500" dirty="0"/>
          </a:p>
        </p:txBody>
      </p:sp>
      <p:sp>
        <p:nvSpPr>
          <p:cNvPr id="16" name="Text 13"/>
          <p:cNvSpPr/>
          <p:nvPr/>
        </p:nvSpPr>
        <p:spPr>
          <a:xfrm>
            <a:off x="7274538" y="4068601"/>
            <a:ext cx="42278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Pod Security Admission rejects the pod</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782" y="812775"/>
            <a:ext cx="10883429"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A3560F"/>
                </a:solidFill>
                <a:latin typeface="JetBrains Mono" pitchFamily="49" charset="0"/>
                <a:ea typeface="JetBrains Mono" pitchFamily="49" charset="-122"/>
                <a:cs typeface="JetBrains Mono" pitchFamily="49" charset="-120"/>
              </a:rPr>
              <a:t>DESIGN DECISIONS</a:t>
            </a:r>
            <a:endParaRPr lang="en-US" sz="1200" dirty="0"/>
          </a:p>
        </p:txBody>
      </p:sp>
      <p:sp>
        <p:nvSpPr>
          <p:cNvPr id="3" name="Text 1"/>
          <p:cNvSpPr/>
          <p:nvPr>
            <p:ph type="title"/>
          </p:nvPr>
        </p:nvSpPr>
        <p:spPr>
          <a:xfrm>
            <a:off x="812782" y="1127658"/>
            <a:ext cx="10883429" cy="472426"/>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7202F"/>
                </a:solidFill>
                <a:latin typeface="Space Grotesk" pitchFamily="34" charset="0"/>
                <a:ea typeface="Space Grotesk" pitchFamily="34" charset="-122"/>
                <a:cs typeface="Space Grotesk" pitchFamily="34" charset="-120"/>
              </a:rPr>
              <a:t>The questions people ask</a:t>
            </a:r>
            <a:endParaRPr lang="en-US" sz="3200" dirty="0"/>
          </a:p>
        </p:txBody>
      </p:sp>
      <p:sp>
        <p:nvSpPr>
          <p:cNvPr id="4" name="Shape 2"/>
          <p:cNvSpPr/>
          <p:nvPr/>
        </p:nvSpPr>
        <p:spPr>
          <a:xfrm>
            <a:off x="815957" y="1882639"/>
            <a:ext cx="5200650" cy="1259817"/>
          </a:xfrm>
          <a:prstGeom prst="roundRect">
            <a:avLst>
              <a:gd name="adj" fmla="val 7813"/>
            </a:avLst>
          </a:prstGeom>
          <a:solidFill>
            <a:srgbClr val="FBFAF6"/>
          </a:solidFill>
          <a:ln w="6350">
            <a:solidFill>
              <a:srgbClr val="DDD8CB"/>
            </a:solidFill>
            <a:prstDash val="solid"/>
          </a:ln>
        </p:spPr>
      </p:sp>
      <p:sp>
        <p:nvSpPr>
          <p:cNvPr id="5" name="Text 3"/>
          <p:cNvSpPr/>
          <p:nvPr/>
        </p:nvSpPr>
        <p:spPr>
          <a:xfrm>
            <a:off x="1047119" y="2113806"/>
            <a:ext cx="4880476" cy="284451"/>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7202F"/>
                </a:solidFill>
                <a:latin typeface="Space Grotesk" pitchFamily="34" charset="0"/>
                <a:ea typeface="Space Grotesk" pitchFamily="34" charset="-122"/>
                <a:cs typeface="Space Grotesk" pitchFamily="34" charset="-120"/>
              </a:rPr>
              <a:t>Why SHA tags, not latest?</a:t>
            </a:r>
            <a:endParaRPr lang="en-US" sz="1700" dirty="0"/>
          </a:p>
        </p:txBody>
      </p:sp>
      <p:sp>
        <p:nvSpPr>
          <p:cNvPr id="6" name="Text 4"/>
          <p:cNvSpPr/>
          <p:nvPr/>
        </p:nvSpPr>
        <p:spPr>
          <a:xfrm>
            <a:off x="1047119" y="2449029"/>
            <a:ext cx="4880476" cy="48766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Every pod traces back to an exact commit, and a rollback is just the previous SHA.</a:t>
            </a:r>
            <a:endParaRPr lang="en-US" sz="1300" dirty="0"/>
          </a:p>
        </p:txBody>
      </p:sp>
      <p:sp>
        <p:nvSpPr>
          <p:cNvPr id="7" name="Shape 5"/>
          <p:cNvSpPr/>
          <p:nvPr/>
        </p:nvSpPr>
        <p:spPr>
          <a:xfrm>
            <a:off x="6175348" y="1882639"/>
            <a:ext cx="5200695" cy="1259817"/>
          </a:xfrm>
          <a:prstGeom prst="roundRect">
            <a:avLst>
              <a:gd name="adj" fmla="val 7813"/>
            </a:avLst>
          </a:prstGeom>
          <a:solidFill>
            <a:srgbClr val="FBFAF6"/>
          </a:solidFill>
          <a:ln w="6350">
            <a:solidFill>
              <a:srgbClr val="DDD8CB"/>
            </a:solidFill>
            <a:prstDash val="solid"/>
          </a:ln>
        </p:spPr>
      </p:sp>
      <p:sp>
        <p:nvSpPr>
          <p:cNvPr id="8" name="Text 6"/>
          <p:cNvSpPr/>
          <p:nvPr/>
        </p:nvSpPr>
        <p:spPr>
          <a:xfrm>
            <a:off x="6406509" y="2113806"/>
            <a:ext cx="4880523" cy="284451"/>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7202F"/>
                </a:solidFill>
                <a:latin typeface="Space Grotesk" pitchFamily="34" charset="0"/>
                <a:ea typeface="Space Grotesk" pitchFamily="34" charset="-122"/>
                <a:cs typeface="Space Grotesk" pitchFamily="34" charset="-120"/>
              </a:rPr>
              <a:t>Why /health and /ready?</a:t>
            </a:r>
            <a:endParaRPr lang="en-US" sz="1700" dirty="0"/>
          </a:p>
        </p:txBody>
      </p:sp>
      <p:sp>
        <p:nvSpPr>
          <p:cNvPr id="9" name="Text 7"/>
          <p:cNvSpPr/>
          <p:nvPr/>
        </p:nvSpPr>
        <p:spPr>
          <a:xfrm>
            <a:off x="6406509" y="2449029"/>
            <a:ext cx="4880523" cy="48766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A database outage should pull the pod from the Service, not restart it.</a:t>
            </a:r>
            <a:endParaRPr lang="en-US" sz="1300" dirty="0"/>
          </a:p>
        </p:txBody>
      </p:sp>
      <p:sp>
        <p:nvSpPr>
          <p:cNvPr id="10" name="Shape 8"/>
          <p:cNvSpPr/>
          <p:nvPr/>
        </p:nvSpPr>
        <p:spPr>
          <a:xfrm>
            <a:off x="815957" y="3301206"/>
            <a:ext cx="5200650" cy="1259817"/>
          </a:xfrm>
          <a:prstGeom prst="roundRect">
            <a:avLst>
              <a:gd name="adj" fmla="val 7813"/>
            </a:avLst>
          </a:prstGeom>
          <a:solidFill>
            <a:srgbClr val="FBFAF6"/>
          </a:solidFill>
          <a:ln w="6350">
            <a:solidFill>
              <a:srgbClr val="DDD8CB"/>
            </a:solidFill>
            <a:prstDash val="solid"/>
          </a:ln>
        </p:spPr>
      </p:sp>
      <p:sp>
        <p:nvSpPr>
          <p:cNvPr id="11" name="Text 9"/>
          <p:cNvSpPr/>
          <p:nvPr/>
        </p:nvSpPr>
        <p:spPr>
          <a:xfrm>
            <a:off x="1047119" y="3532361"/>
            <a:ext cx="4880476" cy="284451"/>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7202F"/>
                </a:solidFill>
                <a:latin typeface="Space Grotesk" pitchFamily="34" charset="0"/>
                <a:ea typeface="Space Grotesk" pitchFamily="34" charset="-122"/>
                <a:cs typeface="Space Grotesk" pitchFamily="34" charset="-120"/>
              </a:rPr>
              <a:t>Why Postgres in the cluster?</a:t>
            </a:r>
            <a:endParaRPr lang="en-US" sz="1700" dirty="0"/>
          </a:p>
        </p:txBody>
      </p:sp>
      <p:sp>
        <p:nvSpPr>
          <p:cNvPr id="12" name="Text 10"/>
          <p:cNvSpPr/>
          <p:nvPr/>
        </p:nvSpPr>
        <p:spPr>
          <a:xfrm>
            <a:off x="1047119" y="3867584"/>
            <a:ext cx="4880476" cy="48766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For the demo. On AWS I’d use RDS; the chart already takes an external database URL.</a:t>
            </a:r>
            <a:endParaRPr lang="en-US" sz="1300" dirty="0"/>
          </a:p>
        </p:txBody>
      </p:sp>
      <p:sp>
        <p:nvSpPr>
          <p:cNvPr id="13" name="Shape 11"/>
          <p:cNvSpPr/>
          <p:nvPr/>
        </p:nvSpPr>
        <p:spPr>
          <a:xfrm>
            <a:off x="6175348" y="3301206"/>
            <a:ext cx="5200695" cy="1259817"/>
          </a:xfrm>
          <a:prstGeom prst="roundRect">
            <a:avLst>
              <a:gd name="adj" fmla="val 7813"/>
            </a:avLst>
          </a:prstGeom>
          <a:solidFill>
            <a:srgbClr val="FBFAF6"/>
          </a:solidFill>
          <a:ln w="6350">
            <a:solidFill>
              <a:srgbClr val="DDD8CB"/>
            </a:solidFill>
            <a:prstDash val="solid"/>
          </a:ln>
        </p:spPr>
      </p:sp>
      <p:sp>
        <p:nvSpPr>
          <p:cNvPr id="14" name="Text 12"/>
          <p:cNvSpPr/>
          <p:nvPr/>
        </p:nvSpPr>
        <p:spPr>
          <a:xfrm>
            <a:off x="6406509" y="3532361"/>
            <a:ext cx="4880523" cy="284451"/>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7202F"/>
                </a:solidFill>
                <a:latin typeface="Space Grotesk" pitchFamily="34" charset="0"/>
                <a:ea typeface="Space Grotesk" pitchFamily="34" charset="-122"/>
                <a:cs typeface="Space Grotesk" pitchFamily="34" charset="-120"/>
              </a:rPr>
              <a:t>Why Traefik, not ingress-nginx?</a:t>
            </a:r>
            <a:endParaRPr lang="en-US" sz="1700" dirty="0"/>
          </a:p>
        </p:txBody>
      </p:sp>
      <p:sp>
        <p:nvSpPr>
          <p:cNvPr id="15" name="Text 13"/>
          <p:cNvSpPr/>
          <p:nvPr/>
        </p:nvSpPr>
        <p:spPr>
          <a:xfrm>
            <a:off x="6406509" y="3867584"/>
            <a:ext cx="4880523" cy="48766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ingress-nginx was archived in March 2026. Only ingressClassName changes.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812782" y="1999617"/>
            <a:ext cx="10883429"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F0B04F"/>
                </a:solidFill>
                <a:latin typeface="JetBrains Mono" pitchFamily="49" charset="0"/>
                <a:ea typeface="JetBrains Mono" pitchFamily="49" charset="-122"/>
                <a:cs typeface="JetBrains Mono" pitchFamily="49" charset="-120"/>
              </a:rPr>
              <a:t>SHELFWISE · DEVOPS CAPSTONE</a:t>
            </a:r>
            <a:endParaRPr lang="en-US" sz="1200" dirty="0"/>
          </a:p>
        </p:txBody>
      </p:sp>
      <p:sp>
        <p:nvSpPr>
          <p:cNvPr id="3" name="Text 1"/>
          <p:cNvSpPr/>
          <p:nvPr>
            <p:ph type="title"/>
          </p:nvPr>
        </p:nvSpPr>
        <p:spPr>
          <a:xfrm>
            <a:off x="812782" y="2517713"/>
            <a:ext cx="10883429" cy="1041400"/>
          </a:xfrm>
          <a:prstGeom prst="rect">
            <a:avLst/>
          </a:prstGeom>
          <a:noFill/>
          <a:ln/>
        </p:spPr>
        <p:txBody>
          <a:bodyPr wrap="square" lIns="0" tIns="0" rIns="0" bIns="0" rtlCol="0" anchor="t">
            <a:normAutofit/>
          </a:bodyPr>
          <a:lstStyle/>
          <a:p>
            <a:pPr algn="l" indent="0" marL="0">
              <a:lnSpc>
                <a:spcPts val="8000"/>
              </a:lnSpc>
              <a:buNone/>
            </a:pPr>
            <a:r>
              <a:rPr lang="en-US" sz="8000" b="1" i="0" spc="-200" kern="0" dirty="0">
                <a:solidFill>
                  <a:srgbClr val="F7F5EF"/>
                </a:solidFill>
                <a:latin typeface="Space Grotesk" pitchFamily="34" charset="0"/>
                <a:ea typeface="Space Grotesk" pitchFamily="34" charset="-122"/>
                <a:cs typeface="Space Grotesk" pitchFamily="34" charset="-120"/>
              </a:rPr>
              <a:t>Thank you</a:t>
            </a:r>
            <a:endParaRPr lang="en-US" sz="8000" dirty="0"/>
          </a:p>
        </p:txBody>
      </p:sp>
      <p:sp>
        <p:nvSpPr>
          <p:cNvPr id="4" name="Text 2"/>
          <p:cNvSpPr/>
          <p:nvPr/>
        </p:nvSpPr>
        <p:spPr>
          <a:xfrm>
            <a:off x="815957" y="3841676"/>
            <a:ext cx="1894952" cy="388676"/>
          </a:xfrm>
          <a:prstGeom prst="roundRect">
            <a:avLst>
              <a:gd name="adj" fmla="val 50000"/>
            </a:avLst>
          </a:prstGeom>
          <a:solidFill>
            <a:srgbClr val="18223A"/>
          </a:solidFill>
          <a:ln w="6350">
            <a:solidFill>
              <a:srgbClr val="2B3A5C"/>
            </a:solidFill>
            <a:prstDash val="solid"/>
          </a:ln>
        </p:spPr>
        <p:txBody>
          <a:bodyPr wrap="none" lIns="0" tIns="0" rIns="0" bIns="0" rtlCol="0" anchor="ctr">
            <a:normAutofit/>
          </a:bodyPr>
          <a:lstStyle/>
          <a:p>
            <a:pPr algn="ctr" indent="0" marL="0">
              <a:lnSpc>
                <a:spcPts val="1820"/>
              </a:lnSpc>
              <a:buNone/>
            </a:pPr>
            <a:r>
              <a:rPr lang="en-US" sz="1300" dirty="0">
                <a:solidFill>
                  <a:srgbClr val="EDEBE4"/>
                </a:solidFill>
                <a:latin typeface="JetBrains Mono" pitchFamily="49" charset="0"/>
                <a:ea typeface="JetBrains Mono" pitchFamily="49" charset="-122"/>
                <a:cs typeface="JetBrains Mono" pitchFamily="49" charset="-120"/>
              </a:rPr>
              <a:t>29 tests passing</a:t>
            </a:r>
            <a:endParaRPr lang="en-US" sz="1300" dirty="0"/>
          </a:p>
        </p:txBody>
      </p:sp>
      <p:sp>
        <p:nvSpPr>
          <p:cNvPr id="5" name="Text 3"/>
          <p:cNvSpPr/>
          <p:nvPr/>
        </p:nvSpPr>
        <p:spPr>
          <a:xfrm>
            <a:off x="2818823" y="3841676"/>
            <a:ext cx="2291195" cy="388676"/>
          </a:xfrm>
          <a:prstGeom prst="roundRect">
            <a:avLst>
              <a:gd name="adj" fmla="val 50000"/>
            </a:avLst>
          </a:prstGeom>
          <a:solidFill>
            <a:srgbClr val="18223A"/>
          </a:solidFill>
          <a:ln w="6350">
            <a:solidFill>
              <a:srgbClr val="2B3A5C"/>
            </a:solidFill>
            <a:prstDash val="solid"/>
          </a:ln>
        </p:spPr>
        <p:txBody>
          <a:bodyPr wrap="none" lIns="0" tIns="0" rIns="0" bIns="0" rtlCol="0" anchor="ctr">
            <a:normAutofit/>
          </a:bodyPr>
          <a:lstStyle/>
          <a:p>
            <a:pPr algn="ctr" indent="0" marL="0">
              <a:lnSpc>
                <a:spcPts val="1820"/>
              </a:lnSpc>
              <a:buNone/>
            </a:pPr>
            <a:r>
              <a:rPr lang="en-US" sz="1300" dirty="0">
                <a:solidFill>
                  <a:srgbClr val="EDEBE4"/>
                </a:solidFill>
                <a:latin typeface="JetBrains Mono" pitchFamily="49" charset="0"/>
                <a:ea typeface="JetBrains Mono" pitchFamily="49" charset="-122"/>
                <a:cs typeface="JetBrains Mono" pitchFamily="49" charset="-120"/>
              </a:rPr>
              <a:t>0 HIGH/CRITICAL CVEs</a:t>
            </a:r>
            <a:endParaRPr lang="en-US" sz="1300" dirty="0"/>
          </a:p>
        </p:txBody>
      </p:sp>
      <p:sp>
        <p:nvSpPr>
          <p:cNvPr id="6" name="Text 4"/>
          <p:cNvSpPr/>
          <p:nvPr/>
        </p:nvSpPr>
        <p:spPr>
          <a:xfrm>
            <a:off x="5217932" y="3841676"/>
            <a:ext cx="1894952" cy="388676"/>
          </a:xfrm>
          <a:prstGeom prst="roundRect">
            <a:avLst>
              <a:gd name="adj" fmla="val 50000"/>
            </a:avLst>
          </a:prstGeom>
          <a:solidFill>
            <a:srgbClr val="18223A"/>
          </a:solidFill>
          <a:ln w="6350">
            <a:solidFill>
              <a:srgbClr val="2B3A5C"/>
            </a:solidFill>
            <a:prstDash val="solid"/>
          </a:ln>
        </p:spPr>
        <p:txBody>
          <a:bodyPr wrap="none" lIns="0" tIns="0" rIns="0" bIns="0" rtlCol="0" anchor="ctr">
            <a:normAutofit/>
          </a:bodyPr>
          <a:lstStyle/>
          <a:p>
            <a:pPr algn="ctr" indent="0" marL="0">
              <a:lnSpc>
                <a:spcPts val="1820"/>
              </a:lnSpc>
              <a:buNone/>
            </a:pPr>
            <a:r>
              <a:rPr lang="en-US" sz="1300" dirty="0">
                <a:solidFill>
                  <a:srgbClr val="EDEBE4"/>
                </a:solidFill>
                <a:latin typeface="JetBrains Mono" pitchFamily="49" charset="0"/>
                <a:ea typeface="JetBrains Mono" pitchFamily="49" charset="-122"/>
                <a:cs typeface="JetBrains Mono" pitchFamily="49" charset="-120"/>
              </a:rPr>
              <a:t>57 AWS resources</a:t>
            </a:r>
            <a:endParaRPr lang="en-US" sz="1300" dirty="0"/>
          </a:p>
        </p:txBody>
      </p:sp>
      <p:sp>
        <p:nvSpPr>
          <p:cNvPr id="7" name="Text 5"/>
          <p:cNvSpPr/>
          <p:nvPr/>
        </p:nvSpPr>
        <p:spPr>
          <a:xfrm>
            <a:off x="7220797" y="3841676"/>
            <a:ext cx="1300631" cy="388676"/>
          </a:xfrm>
          <a:prstGeom prst="roundRect">
            <a:avLst>
              <a:gd name="adj" fmla="val 50000"/>
            </a:avLst>
          </a:prstGeom>
          <a:solidFill>
            <a:srgbClr val="18223A"/>
          </a:solidFill>
          <a:ln w="6350">
            <a:solidFill>
              <a:srgbClr val="2B3A5C"/>
            </a:solidFill>
            <a:prstDash val="solid"/>
          </a:ln>
        </p:spPr>
        <p:txBody>
          <a:bodyPr wrap="none" lIns="0" tIns="0" rIns="0" bIns="0" rtlCol="0" anchor="ctr">
            <a:normAutofit/>
          </a:bodyPr>
          <a:lstStyle/>
          <a:p>
            <a:pPr algn="ctr" indent="0" marL="0">
              <a:lnSpc>
                <a:spcPts val="1820"/>
              </a:lnSpc>
              <a:buNone/>
            </a:pPr>
            <a:r>
              <a:rPr lang="en-US" sz="1300" dirty="0">
                <a:solidFill>
                  <a:srgbClr val="EDEBE4"/>
                </a:solidFill>
                <a:latin typeface="JetBrains Mono" pitchFamily="49" charset="0"/>
                <a:ea typeface="JetBrains Mono" pitchFamily="49" charset="-122"/>
                <a:cs typeface="JetBrains Mono" pitchFamily="49" charset="-120"/>
              </a:rPr>
              <a:t>2 → 6 pods</a:t>
            </a:r>
            <a:endParaRPr lang="en-US" sz="1300" dirty="0"/>
          </a:p>
        </p:txBody>
      </p:sp>
      <p:sp>
        <p:nvSpPr>
          <p:cNvPr id="8" name="Text 6"/>
          <p:cNvSpPr/>
          <p:nvPr/>
        </p:nvSpPr>
        <p:spPr>
          <a:xfrm>
            <a:off x="8629343" y="3841676"/>
            <a:ext cx="1795913" cy="388676"/>
          </a:xfrm>
          <a:prstGeom prst="roundRect">
            <a:avLst>
              <a:gd name="adj" fmla="val 50000"/>
            </a:avLst>
          </a:prstGeom>
          <a:solidFill>
            <a:srgbClr val="18223A"/>
          </a:solidFill>
          <a:ln w="6350">
            <a:solidFill>
              <a:srgbClr val="2B3A5C"/>
            </a:solidFill>
            <a:prstDash val="solid"/>
          </a:ln>
        </p:spPr>
        <p:txBody>
          <a:bodyPr wrap="none" lIns="0" tIns="0" rIns="0" bIns="0" rtlCol="0" anchor="ctr">
            <a:normAutofit/>
          </a:bodyPr>
          <a:lstStyle/>
          <a:p>
            <a:pPr algn="ctr" indent="0" marL="0">
              <a:lnSpc>
                <a:spcPts val="1820"/>
              </a:lnSpc>
              <a:buNone/>
            </a:pPr>
            <a:r>
              <a:rPr lang="en-US" sz="1300" dirty="0">
                <a:solidFill>
                  <a:srgbClr val="EDEBE4"/>
                </a:solidFill>
                <a:latin typeface="JetBrains Mono" pitchFamily="49" charset="0"/>
                <a:ea typeface="JetBrains Mono" pitchFamily="49" charset="-122"/>
                <a:cs typeface="JetBrains Mono" pitchFamily="49" charset="-120"/>
              </a:rPr>
              <a:t>&lt; $1 cloud bill</a:t>
            </a:r>
            <a:endParaRPr lang="en-US" sz="1300" dirty="0"/>
          </a:p>
        </p:txBody>
      </p:sp>
      <p:sp>
        <p:nvSpPr>
          <p:cNvPr id="9" name="Text 7"/>
          <p:cNvSpPr/>
          <p:nvPr/>
        </p:nvSpPr>
        <p:spPr>
          <a:xfrm>
            <a:off x="812782" y="4538303"/>
            <a:ext cx="10883429" cy="345426"/>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A9B4C6"/>
                </a:solidFill>
                <a:latin typeface="IBM Plex Sans" pitchFamily="34" charset="0"/>
                <a:ea typeface="IBM Plex Sans" pitchFamily="34" charset="-122"/>
                <a:cs typeface="IBM Plex Sans" pitchFamily="34" charset="-120"/>
              </a:rPr>
              <a:t>Questions? · </a:t>
            </a:r>
            <a:r>
              <a:rPr lang="en-US" sz="1800" u="sng" dirty="0">
                <a:solidFill>
                  <a:srgbClr val="8FB0FF"/>
                </a:solidFill>
                <a:latin typeface="IBM Plex Sans" pitchFamily="34" charset="0"/>
                <a:ea typeface="IBM Plex Sans" pitchFamily="34" charset="-122"/>
                <a:cs typeface="IBM Plex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github.com/RashiMalik02/shelfwise</a:t>
            </a:r>
            <a:endParaRPr lang="en-US" sz="1800" dirty="0"/>
          </a:p>
        </p:txBody>
      </p:sp>
    </p:spTree>
  </p:cSld>
  <p:clrMapOvr>
    <a:masterClrMapping/>
  </p:clrMapOvr>
</p:sld>
</file>

<file path=ppt/theme/theme1.xml><?xml version="1.0" encoding="utf-8"?>
<a:theme xmlns:a="http://schemas.openxmlformats.org/drawingml/2006/main" name="Shelfwise — DevOps Capstone">
  <a:themeElements>
    <a:clrScheme name="Shelfwise — DevOps Capstone">
      <a:dk1>
        <a:srgbClr val="17202F"/>
      </a:dk1>
      <a:lt1>
        <a:srgbClr val="F4F2EC"/>
      </a:lt1>
      <a:dk2>
        <a:srgbClr val="4E555E"/>
      </a:dk2>
      <a:lt2>
        <a:srgbClr val="DEDDD9"/>
      </a:lt2>
      <a:accent1>
        <a:srgbClr val="2F5BD3"/>
      </a:accent1>
      <a:accent2>
        <a:srgbClr val="A3560F"/>
      </a:accent2>
      <a:accent3>
        <a:srgbClr val="F0B04F"/>
      </a:accent3>
      <a:accent4>
        <a:srgbClr val="3A2A12"/>
      </a:accent4>
      <a:accent5>
        <a:srgbClr val="8FB0FF"/>
      </a:accent5>
      <a:accent6>
        <a:srgbClr val="8FD9BE"/>
      </a:accent6>
      <a:hlink>
        <a:srgbClr val="0563C1"/>
      </a:hlink>
      <a:folHlink>
        <a:srgbClr val="954F72"/>
      </a:folHlink>
    </a:clrScheme>
    <a:fontScheme name="Shelfwise — DevOps Capstone">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Shelfwise — DevOps Capstone</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Space Grotesk
Copyright 2020 The Space Grotesk Project Authors (https://github.com/floriankarsten/space-grotesk)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2026-10-26T15:01:57Z</dcterms:created>
  <dcterms:modified xsi:type="dcterms:W3CDTF">2026-10-26T15:01:57Z</dcterms:modified>
</cp:coreProperties>
</file>